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6" r:id="rId3"/>
    <p:sldId id="257" r:id="rId4"/>
    <p:sldId id="258" r:id="rId5"/>
    <p:sldId id="269" r:id="rId6"/>
    <p:sldId id="268" r:id="rId7"/>
    <p:sldId id="259" r:id="rId8"/>
    <p:sldId id="260" r:id="rId9"/>
    <p:sldId id="261" r:id="rId10"/>
    <p:sldId id="262" r:id="rId11"/>
    <p:sldId id="264" r:id="rId12"/>
    <p:sldId id="265" r:id="rId13"/>
    <p:sldId id="272" r:id="rId14"/>
    <p:sldId id="273" r:id="rId15"/>
    <p:sldId id="274" r:id="rId16"/>
    <p:sldId id="275" r:id="rId17"/>
    <p:sldId id="276" r:id="rId18"/>
    <p:sldId id="277" r:id="rId19"/>
    <p:sldId id="278" r:id="rId20"/>
    <p:sldId id="279"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F0B1A80-69C9-4EE9-821D-91DA527F8612}"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144321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0B1A80-69C9-4EE9-821D-91DA527F8612}"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830767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F0B1A80-69C9-4EE9-821D-91DA527F8612}"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43062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F0B1A80-69C9-4EE9-821D-91DA527F8612}"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1987804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F0B1A80-69C9-4EE9-821D-91DA527F8612}"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3075140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0B1A80-69C9-4EE9-821D-91DA527F8612}"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3251118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0B1A80-69C9-4EE9-821D-91DA527F8612}"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2808330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F0B1A80-69C9-4EE9-821D-91DA527F8612}"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1917308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F0B1A80-69C9-4EE9-821D-91DA527F8612}"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2988729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0B1A80-69C9-4EE9-821D-91DA527F8612}"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3123803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0B1A80-69C9-4EE9-821D-91DA527F8612}"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1E8DD-70EB-41B4-BB1B-B4F67A52C5B0}" type="slidenum">
              <a:rPr lang="en-US" smtClean="0"/>
              <a:t>‹#›</a:t>
            </a:fld>
            <a:endParaRPr lang="en-US"/>
          </a:p>
        </p:txBody>
      </p:sp>
    </p:spTree>
    <p:extLst>
      <p:ext uri="{BB962C8B-B14F-4D97-AF65-F5344CB8AC3E}">
        <p14:creationId xmlns:p14="http://schemas.microsoft.com/office/powerpoint/2010/main" val="3558850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B1A80-69C9-4EE9-821D-91DA527F8612}" type="datetimeFigureOut">
              <a:rPr lang="en-US" smtClean="0"/>
              <a:t>6/8/2026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71E8DD-70EB-41B4-BB1B-B4F67A52C5B0}" type="slidenum">
              <a:rPr lang="en-US" smtClean="0"/>
              <a:t>‹#›</a:t>
            </a:fld>
            <a:endParaRPr lang="en-US"/>
          </a:p>
        </p:txBody>
      </p:sp>
    </p:spTree>
    <p:extLst>
      <p:ext uri="{BB962C8B-B14F-4D97-AF65-F5344CB8AC3E}">
        <p14:creationId xmlns:p14="http://schemas.microsoft.com/office/powerpoint/2010/main" val="4024952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99309" y="4377893"/>
            <a:ext cx="9144000" cy="1655762"/>
          </a:xfrm>
        </p:spPr>
        <p:txBody>
          <a:bodyPr/>
          <a:lstStyle/>
          <a:p>
            <a:pPr>
              <a:defRPr/>
            </a:pPr>
            <a:r>
              <a:rPr lang="en-US" dirty="0">
                <a:latin typeface="Times New Roman" panose="02020603050405020304" pitchFamily="18" charset="0"/>
                <a:cs typeface="Times New Roman" panose="02020603050405020304" pitchFamily="18" charset="0"/>
              </a:rPr>
              <a:t>C++ Programming  </a:t>
            </a:r>
          </a:p>
          <a:p>
            <a:r>
              <a:rPr lang="en-US" dirty="0" smtClean="0"/>
              <a:t>Recursion &amp; Exception Handling and File Handling</a:t>
            </a:r>
            <a:endParaRPr lang="en-US" dirty="0"/>
          </a:p>
        </p:txBody>
      </p:sp>
      <p:sp>
        <p:nvSpPr>
          <p:cNvPr id="2" name="Title 1"/>
          <p:cNvSpPr>
            <a:spLocks noGrp="1"/>
          </p:cNvSpPr>
          <p:nvPr>
            <p:ph type="ctrTitle"/>
          </p:nvPr>
        </p:nvSpPr>
        <p:spPr>
          <a:xfrm>
            <a:off x="1163782" y="96982"/>
            <a:ext cx="9144000" cy="3962400"/>
          </a:xfrm>
        </p:spPr>
        <p:txBody>
          <a:bodyPr>
            <a:normAutofit/>
          </a:bodyPr>
          <a:lstStyle/>
          <a:p>
            <a:r>
              <a:rPr lang="en-US" sz="4800" dirty="0" smtClean="0">
                <a:latin typeface="Times New Roman" panose="02020603050405020304" pitchFamily="18" charset="0"/>
                <a:cs typeface="Times New Roman" panose="02020603050405020304" pitchFamily="18" charset="0"/>
              </a:rPr>
              <a:t>Ministry of Higher Education</a:t>
            </a:r>
            <a:br>
              <a:rPr lang="en-US" sz="4800" dirty="0" smtClean="0">
                <a:latin typeface="Times New Roman" panose="02020603050405020304" pitchFamily="18" charset="0"/>
                <a:cs typeface="Times New Roman" panose="02020603050405020304" pitchFamily="18" charset="0"/>
              </a:rPr>
            </a:br>
            <a:r>
              <a:rPr lang="en-US" sz="4800" dirty="0" smtClean="0">
                <a:latin typeface="Times New Roman" panose="02020603050405020304" pitchFamily="18" charset="0"/>
                <a:cs typeface="Times New Roman" panose="02020603050405020304" pitchFamily="18" charset="0"/>
              </a:rPr>
              <a:t>Kabul university </a:t>
            </a:r>
            <a:br>
              <a:rPr lang="en-US" sz="4800" dirty="0" smtClean="0">
                <a:latin typeface="Times New Roman" panose="02020603050405020304" pitchFamily="18" charset="0"/>
                <a:cs typeface="Times New Roman" panose="02020603050405020304" pitchFamily="18" charset="0"/>
              </a:rPr>
            </a:br>
            <a:r>
              <a:rPr lang="en-US" sz="4800" dirty="0" smtClean="0">
                <a:latin typeface="Times New Roman" panose="02020603050405020304" pitchFamily="18" charset="0"/>
                <a:cs typeface="Times New Roman" panose="02020603050405020304" pitchFamily="18" charset="0"/>
              </a:rPr>
              <a:t>faculty of </a:t>
            </a:r>
            <a:br>
              <a:rPr lang="en-US" sz="4800" dirty="0" smtClean="0">
                <a:latin typeface="Times New Roman" panose="02020603050405020304" pitchFamily="18" charset="0"/>
                <a:cs typeface="Times New Roman" panose="02020603050405020304" pitchFamily="18" charset="0"/>
              </a:rPr>
            </a:br>
            <a:r>
              <a:rPr lang="en-US" sz="4800" dirty="0" smtClean="0">
                <a:latin typeface="Times New Roman" panose="02020603050405020304" pitchFamily="18" charset="0"/>
                <a:cs typeface="Times New Roman" panose="02020603050405020304" pitchFamily="18" charset="0"/>
              </a:rPr>
              <a:t>Information &amp; communication technology</a:t>
            </a:r>
            <a:endParaRPr lang="en-US" sz="4800" dirty="0"/>
          </a:p>
        </p:txBody>
      </p:sp>
    </p:spTree>
    <p:extLst>
      <p:ext uri="{BB962C8B-B14F-4D97-AF65-F5344CB8AC3E}">
        <p14:creationId xmlns:p14="http://schemas.microsoft.com/office/powerpoint/2010/main" val="3641457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35527" y="1275697"/>
            <a:ext cx="11180617" cy="3227030"/>
          </a:xfrm>
        </p:spPr>
        <p:txBody>
          <a:bodyPr>
            <a:normAutofit lnSpcReduction="10000"/>
          </a:bodyPr>
          <a:lstStyle/>
          <a:p>
            <a:pPr algn="l"/>
            <a:r>
              <a:rPr lang="en-US" sz="2800" b="1" dirty="0"/>
              <a:t>Recursive </a:t>
            </a:r>
            <a:r>
              <a:rPr lang="en-US" sz="2800" b="1" dirty="0" smtClean="0"/>
              <a:t>Definitions</a:t>
            </a:r>
          </a:p>
          <a:p>
            <a:pPr algn="l"/>
            <a:r>
              <a:rPr lang="en-US" dirty="0"/>
              <a:t>The process in which a function calls itself directly or indirectly is called recursion and the corresponding function is called a recursive function.</a:t>
            </a:r>
          </a:p>
          <a:p>
            <a:pPr algn="l"/>
            <a:r>
              <a:rPr lang="en-US" dirty="0"/>
              <a:t>The process of solving a problem by reducing it to smaller versions of itself is called recursion.</a:t>
            </a:r>
          </a:p>
          <a:p>
            <a:pPr algn="l"/>
            <a:r>
              <a:rPr lang="en-US" dirty="0"/>
              <a:t>Recursion is a very powerful way to solve certain problems for which the solution would</a:t>
            </a:r>
          </a:p>
          <a:p>
            <a:pPr algn="l"/>
            <a:r>
              <a:rPr lang="en-US" dirty="0"/>
              <a:t>otherwise be very complicated. Let us consider a problem that is familiar to most everyone.</a:t>
            </a:r>
          </a:p>
        </p:txBody>
      </p:sp>
    </p:spTree>
    <p:extLst>
      <p:ext uri="{BB962C8B-B14F-4D97-AF65-F5344CB8AC3E}">
        <p14:creationId xmlns:p14="http://schemas.microsoft.com/office/powerpoint/2010/main" val="3348802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86990"/>
            <a:ext cx="10515600" cy="4351338"/>
          </a:xfrm>
        </p:spPr>
        <p:txBody>
          <a:bodyPr>
            <a:normAutofit fontScale="92500" lnSpcReduction="20000"/>
          </a:bodyPr>
          <a:lstStyle/>
          <a:p>
            <a:pPr marL="0" indent="0">
              <a:buNone/>
            </a:pPr>
            <a:r>
              <a:rPr lang="en-US" dirty="0"/>
              <a:t>A function that calls itself is called a recursive function</a:t>
            </a:r>
            <a:r>
              <a:rPr lang="en-US" dirty="0" smtClean="0"/>
              <a:t>.</a:t>
            </a:r>
          </a:p>
          <a:p>
            <a:pPr marL="0" indent="0">
              <a:buNone/>
            </a:pPr>
            <a:r>
              <a:rPr lang="en-US" dirty="0"/>
              <a:t>int fact(int </a:t>
            </a:r>
            <a:r>
              <a:rPr lang="en-US" dirty="0" err="1"/>
              <a:t>num</a:t>
            </a:r>
            <a:r>
              <a:rPr lang="en-US" dirty="0"/>
              <a:t>)</a:t>
            </a:r>
          </a:p>
          <a:p>
            <a:r>
              <a:rPr lang="en-US" dirty="0"/>
              <a:t>{</a:t>
            </a:r>
          </a:p>
          <a:p>
            <a:r>
              <a:rPr lang="en-US" dirty="0"/>
              <a:t>if (</a:t>
            </a:r>
            <a:r>
              <a:rPr lang="en-US" dirty="0" err="1"/>
              <a:t>num</a:t>
            </a:r>
            <a:r>
              <a:rPr lang="en-US" dirty="0"/>
              <a:t> == 0)</a:t>
            </a:r>
          </a:p>
          <a:p>
            <a:r>
              <a:rPr lang="en-US" dirty="0"/>
              <a:t>return 1;</a:t>
            </a:r>
          </a:p>
          <a:p>
            <a:r>
              <a:rPr lang="en-US" dirty="0"/>
              <a:t>else</a:t>
            </a:r>
          </a:p>
          <a:p>
            <a:r>
              <a:rPr lang="en-US" dirty="0"/>
              <a:t>return </a:t>
            </a:r>
            <a:r>
              <a:rPr lang="en-US" dirty="0" err="1"/>
              <a:t>num</a:t>
            </a:r>
            <a:r>
              <a:rPr lang="en-US" dirty="0"/>
              <a:t> * fact(</a:t>
            </a:r>
            <a:r>
              <a:rPr lang="en-US" dirty="0" err="1"/>
              <a:t>num</a:t>
            </a:r>
            <a:r>
              <a:rPr lang="en-US" dirty="0"/>
              <a:t> - 1);</a:t>
            </a:r>
          </a:p>
          <a:p>
            <a:r>
              <a:rPr lang="en-US" dirty="0"/>
              <a:t>}</a:t>
            </a:r>
          </a:p>
          <a:p>
            <a:pPr marL="0" indent="0">
              <a:buNone/>
            </a:pPr>
            <a:r>
              <a:rPr lang="en-US" dirty="0" smtClean="0"/>
              <a:t>traces </a:t>
            </a:r>
            <a:r>
              <a:rPr lang="en-US" dirty="0"/>
              <a:t>the execution of the following statement:</a:t>
            </a:r>
          </a:p>
          <a:p>
            <a:r>
              <a:rPr lang="en-US" dirty="0"/>
              <a:t>cout &lt;&lt; fact(3) &lt;&lt; endl;</a:t>
            </a:r>
          </a:p>
        </p:txBody>
      </p:sp>
      <p:sp>
        <p:nvSpPr>
          <p:cNvPr id="2" name="TextBox 1"/>
          <p:cNvSpPr txBox="1"/>
          <p:nvPr/>
        </p:nvSpPr>
        <p:spPr>
          <a:xfrm>
            <a:off x="304800" y="678873"/>
            <a:ext cx="9282546" cy="923330"/>
          </a:xfrm>
          <a:prstGeom prst="rect">
            <a:avLst/>
          </a:prstGeom>
          <a:noFill/>
        </p:spPr>
        <p:txBody>
          <a:bodyPr wrap="square" rtlCol="0">
            <a:spAutoFit/>
          </a:bodyPr>
          <a:lstStyle/>
          <a:p>
            <a:r>
              <a:rPr lang="en-US" sz="3600" b="1" dirty="0" smtClean="0">
                <a:ln w="0"/>
                <a:solidFill>
                  <a:schemeClr val="accent1"/>
                </a:solidFill>
                <a:effectLst>
                  <a:outerShdw blurRad="38100" dist="25400" dir="5400000" algn="ctr" rotWithShape="0">
                    <a:srgbClr val="6E747A">
                      <a:alpha val="43000"/>
                    </a:srgbClr>
                  </a:outerShdw>
                </a:effectLst>
              </a:rPr>
              <a:t>Example</a:t>
            </a:r>
          </a:p>
          <a:p>
            <a:endParaRPr lang="en-US" dirty="0"/>
          </a:p>
        </p:txBody>
      </p:sp>
    </p:spTree>
    <p:extLst>
      <p:ext uri="{BB962C8B-B14F-4D97-AF65-F5344CB8AC3E}">
        <p14:creationId xmlns:p14="http://schemas.microsoft.com/office/powerpoint/2010/main" val="3523897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Direct and Indirect Recursion</a:t>
            </a:r>
          </a:p>
          <a:p>
            <a:r>
              <a:rPr lang="en-US" dirty="0"/>
              <a:t>A function is called directly recursive if it calls itself</a:t>
            </a:r>
            <a:r>
              <a:rPr lang="en-US" dirty="0" smtClean="0"/>
              <a:t>.</a:t>
            </a:r>
          </a:p>
          <a:p>
            <a:pPr marL="0" indent="0">
              <a:buNone/>
            </a:pPr>
            <a:endParaRPr lang="en-US" dirty="0" smtClean="0"/>
          </a:p>
          <a:p>
            <a:r>
              <a:rPr lang="en-US" dirty="0" smtClean="0"/>
              <a:t> </a:t>
            </a:r>
            <a:r>
              <a:rPr lang="en-US" dirty="0"/>
              <a:t>A function that calls </a:t>
            </a:r>
            <a:r>
              <a:rPr lang="en-US" dirty="0" smtClean="0"/>
              <a:t>another</a:t>
            </a:r>
            <a:r>
              <a:rPr lang="en-US" dirty="0"/>
              <a:t> </a:t>
            </a:r>
            <a:r>
              <a:rPr lang="en-US" dirty="0" smtClean="0"/>
              <a:t>function </a:t>
            </a:r>
            <a:r>
              <a:rPr lang="en-US" dirty="0"/>
              <a:t>and eventually results in the original function call is said to be </a:t>
            </a:r>
            <a:r>
              <a:rPr lang="en-US" dirty="0" smtClean="0"/>
              <a:t>indirectly</a:t>
            </a:r>
          </a:p>
        </p:txBody>
      </p:sp>
    </p:spTree>
    <p:extLst>
      <p:ext uri="{BB962C8B-B14F-4D97-AF65-F5344CB8AC3E}">
        <p14:creationId xmlns:p14="http://schemas.microsoft.com/office/powerpoint/2010/main" val="1479517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3673"/>
            <a:ext cx="10515600" cy="2895600"/>
          </a:xfrm>
        </p:spPr>
        <p:txBody>
          <a:bodyPr/>
          <a:lstStyle/>
          <a:p>
            <a:pPr marL="0" indent="0">
              <a:buNone/>
            </a:pPr>
            <a:r>
              <a:rPr lang="en-US" dirty="0"/>
              <a:t>A recursive function in which the last statement executed is the recursive call is called a tail recursive function.</a:t>
            </a:r>
          </a:p>
        </p:txBody>
      </p:sp>
    </p:spTree>
    <p:extLst>
      <p:ext uri="{BB962C8B-B14F-4D97-AF65-F5344CB8AC3E}">
        <p14:creationId xmlns:p14="http://schemas.microsoft.com/office/powerpoint/2010/main" val="36146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types</a:t>
            </a:r>
            <a:endParaRPr lang="en-US" dirty="0"/>
          </a:p>
        </p:txBody>
      </p:sp>
      <p:sp>
        <p:nvSpPr>
          <p:cNvPr id="3" name="Content Placeholder 2"/>
          <p:cNvSpPr>
            <a:spLocks noGrp="1"/>
          </p:cNvSpPr>
          <p:nvPr>
            <p:ph idx="1"/>
          </p:nvPr>
        </p:nvSpPr>
        <p:spPr/>
        <p:txBody>
          <a:bodyPr/>
          <a:lstStyle/>
          <a:p>
            <a:pPr marL="0" indent="0">
              <a:buNone/>
            </a:pPr>
            <a:r>
              <a:rPr lang="en-US" dirty="0" smtClean="0"/>
              <a:t>1: Syntax Error</a:t>
            </a:r>
          </a:p>
          <a:p>
            <a:pPr marL="0" indent="0">
              <a:buNone/>
            </a:pPr>
            <a:r>
              <a:rPr lang="en-US" dirty="0" smtClean="0"/>
              <a:t>2: Run time Error</a:t>
            </a:r>
          </a:p>
          <a:p>
            <a:pPr marL="0" indent="0">
              <a:buNone/>
            </a:pPr>
            <a:r>
              <a:rPr lang="en-US" dirty="0" smtClean="0"/>
              <a:t>3: Logical Error</a:t>
            </a:r>
            <a:endParaRPr lang="en-US" dirty="0"/>
          </a:p>
        </p:txBody>
      </p:sp>
    </p:spTree>
    <p:extLst>
      <p:ext uri="{BB962C8B-B14F-4D97-AF65-F5344CB8AC3E}">
        <p14:creationId xmlns:p14="http://schemas.microsoft.com/office/powerpoint/2010/main" val="2008970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 Handling</a:t>
            </a:r>
            <a:endParaRPr lang="en-US" dirty="0"/>
          </a:p>
        </p:txBody>
      </p:sp>
      <p:sp>
        <p:nvSpPr>
          <p:cNvPr id="3" name="Content Placeholder 2"/>
          <p:cNvSpPr>
            <a:spLocks noGrp="1"/>
          </p:cNvSpPr>
          <p:nvPr>
            <p:ph idx="1"/>
          </p:nvPr>
        </p:nvSpPr>
        <p:spPr/>
        <p:txBody>
          <a:bodyPr/>
          <a:lstStyle/>
          <a:p>
            <a:r>
              <a:rPr lang="en-US" dirty="0"/>
              <a:t>An exception is an occurrence of an undesirable situation that can be detected </a:t>
            </a:r>
            <a:r>
              <a:rPr lang="en-US" dirty="0" smtClean="0"/>
              <a:t>during program </a:t>
            </a:r>
            <a:r>
              <a:rPr lang="en-US" dirty="0"/>
              <a:t>execution.</a:t>
            </a:r>
          </a:p>
        </p:txBody>
      </p:sp>
    </p:spTree>
    <p:extLst>
      <p:ext uri="{BB962C8B-B14F-4D97-AF65-F5344CB8AC3E}">
        <p14:creationId xmlns:p14="http://schemas.microsoft.com/office/powerpoint/2010/main" val="3630261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Mechanisms of Exception Handling</a:t>
            </a:r>
          </a:p>
        </p:txBody>
      </p:sp>
      <p:sp>
        <p:nvSpPr>
          <p:cNvPr id="3" name="Content Placeholder 2"/>
          <p:cNvSpPr>
            <a:spLocks noGrp="1"/>
          </p:cNvSpPr>
          <p:nvPr>
            <p:ph idx="1"/>
          </p:nvPr>
        </p:nvSpPr>
        <p:spPr/>
        <p:txBody>
          <a:bodyPr/>
          <a:lstStyle/>
          <a:p>
            <a:pPr marL="0" indent="0">
              <a:buNone/>
            </a:pPr>
            <a:r>
              <a:rPr lang="en-US" b="1" dirty="0"/>
              <a:t>try/catch Block</a:t>
            </a:r>
          </a:p>
          <a:p>
            <a:r>
              <a:rPr lang="en-US" dirty="0"/>
              <a:t>The statements that may generate an exception are placed in a try block. The try block</a:t>
            </a:r>
          </a:p>
          <a:p>
            <a:r>
              <a:rPr lang="en-US" dirty="0"/>
              <a:t>also contains statements that should not be executed if an exception occurs. The </a:t>
            </a:r>
            <a:r>
              <a:rPr lang="en-US" dirty="0" smtClean="0"/>
              <a:t>try</a:t>
            </a:r>
            <a:endParaRPr lang="en-US" dirty="0"/>
          </a:p>
        </p:txBody>
      </p:sp>
    </p:spTree>
    <p:extLst>
      <p:ext uri="{BB962C8B-B14F-4D97-AF65-F5344CB8AC3E}">
        <p14:creationId xmlns:p14="http://schemas.microsoft.com/office/powerpoint/2010/main" val="1504437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5467"/>
            <a:ext cx="10515600" cy="1325563"/>
          </a:xfrm>
        </p:spPr>
        <p:txBody>
          <a:bodyPr/>
          <a:lstStyle/>
          <a:p>
            <a:r>
              <a:rPr lang="en-US" dirty="0" smtClean="0"/>
              <a:t>The general syntax of the try/catch block is:</a:t>
            </a:r>
            <a:br>
              <a:rPr lang="en-US" dirty="0" smtClean="0"/>
            </a:br>
            <a:endParaRPr lang="en-US" dirty="0"/>
          </a:p>
        </p:txBody>
      </p:sp>
      <p:sp>
        <p:nvSpPr>
          <p:cNvPr id="3" name="Content Placeholder 2"/>
          <p:cNvSpPr>
            <a:spLocks noGrp="1"/>
          </p:cNvSpPr>
          <p:nvPr>
            <p:ph idx="1"/>
          </p:nvPr>
        </p:nvSpPr>
        <p:spPr/>
        <p:txBody>
          <a:bodyPr>
            <a:normAutofit fontScale="47500" lnSpcReduction="20000"/>
          </a:bodyPr>
          <a:lstStyle/>
          <a:p>
            <a:r>
              <a:rPr lang="en-US" dirty="0" smtClean="0"/>
              <a:t>try</a:t>
            </a:r>
            <a:endParaRPr lang="en-US" dirty="0"/>
          </a:p>
          <a:p>
            <a:r>
              <a:rPr lang="en-US" dirty="0"/>
              <a:t>{</a:t>
            </a:r>
          </a:p>
          <a:p>
            <a:r>
              <a:rPr lang="en-US" dirty="0"/>
              <a:t>//statements</a:t>
            </a:r>
          </a:p>
          <a:p>
            <a:r>
              <a:rPr lang="en-US" dirty="0"/>
              <a:t>}</a:t>
            </a:r>
          </a:p>
          <a:p>
            <a:r>
              <a:rPr lang="en-US" dirty="0"/>
              <a:t>catch (dataType1 identifier)</a:t>
            </a:r>
          </a:p>
          <a:p>
            <a:r>
              <a:rPr lang="en-US" dirty="0"/>
              <a:t>{</a:t>
            </a:r>
          </a:p>
          <a:p>
            <a:r>
              <a:rPr lang="en-US" dirty="0"/>
              <a:t>//exception-handling code</a:t>
            </a:r>
          </a:p>
          <a:p>
            <a:r>
              <a:rPr lang="en-US" dirty="0"/>
              <a:t>}...</a:t>
            </a:r>
          </a:p>
          <a:p>
            <a:r>
              <a:rPr lang="en-US" dirty="0"/>
              <a:t>catch (</a:t>
            </a:r>
            <a:r>
              <a:rPr lang="en-US" dirty="0" err="1"/>
              <a:t>dataTypen</a:t>
            </a:r>
            <a:r>
              <a:rPr lang="en-US" dirty="0"/>
              <a:t> identifier)</a:t>
            </a:r>
          </a:p>
          <a:p>
            <a:r>
              <a:rPr lang="en-US" dirty="0"/>
              <a:t>{</a:t>
            </a:r>
          </a:p>
          <a:p>
            <a:r>
              <a:rPr lang="en-US" dirty="0"/>
              <a:t>//exception-handling code</a:t>
            </a:r>
          </a:p>
          <a:p>
            <a:r>
              <a:rPr lang="en-US" dirty="0"/>
              <a:t>}...</a:t>
            </a:r>
          </a:p>
          <a:p>
            <a:r>
              <a:rPr lang="en-US" dirty="0"/>
              <a:t>catch (...)</a:t>
            </a:r>
          </a:p>
          <a:p>
            <a:r>
              <a:rPr lang="en-US" dirty="0"/>
              <a:t>{</a:t>
            </a:r>
          </a:p>
          <a:p>
            <a:r>
              <a:rPr lang="en-US" dirty="0"/>
              <a:t>//exception-handling code</a:t>
            </a:r>
          </a:p>
          <a:p>
            <a:r>
              <a:rPr lang="en-US" dirty="0"/>
              <a:t>}</a:t>
            </a:r>
          </a:p>
        </p:txBody>
      </p:sp>
    </p:spTree>
    <p:extLst>
      <p:ext uri="{BB962C8B-B14F-4D97-AF65-F5344CB8AC3E}">
        <p14:creationId xmlns:p14="http://schemas.microsoft.com/office/powerpoint/2010/main" val="3442191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25625"/>
            <a:ext cx="11035146" cy="4351338"/>
          </a:xfrm>
        </p:spPr>
        <p:txBody>
          <a:bodyPr>
            <a:normAutofit fontScale="92500" lnSpcReduction="10000"/>
          </a:bodyPr>
          <a:lstStyle/>
          <a:p>
            <a:pPr marL="0" indent="0" algn="just">
              <a:buNone/>
            </a:pPr>
            <a:r>
              <a:rPr lang="en-US" dirty="0"/>
              <a:t>Let us now note the following about try/catch blocks.</a:t>
            </a:r>
          </a:p>
          <a:p>
            <a:pPr algn="just"/>
            <a:r>
              <a:rPr lang="en-US" dirty="0" smtClean="0"/>
              <a:t> </a:t>
            </a:r>
            <a:r>
              <a:rPr lang="en-US" dirty="0"/>
              <a:t>If no exception is thrown in a try block, all catch blocks </a:t>
            </a:r>
            <a:r>
              <a:rPr lang="en-US" dirty="0" smtClean="0"/>
              <a:t>associated with </a:t>
            </a:r>
            <a:r>
              <a:rPr lang="en-US" dirty="0"/>
              <a:t>that try block are ignored and program execution resumes after </a:t>
            </a:r>
            <a:r>
              <a:rPr lang="en-US" dirty="0" smtClean="0"/>
              <a:t>the last </a:t>
            </a:r>
            <a:r>
              <a:rPr lang="en-US" dirty="0"/>
              <a:t>catch block.</a:t>
            </a:r>
          </a:p>
          <a:p>
            <a:pPr algn="just"/>
            <a:r>
              <a:rPr lang="en-US" dirty="0" smtClean="0"/>
              <a:t> </a:t>
            </a:r>
            <a:r>
              <a:rPr lang="en-US" dirty="0"/>
              <a:t>If an exception is thrown in a try block, the remaining statements in </a:t>
            </a:r>
            <a:r>
              <a:rPr lang="en-US" dirty="0" smtClean="0"/>
              <a:t>that try </a:t>
            </a:r>
            <a:r>
              <a:rPr lang="en-US" dirty="0"/>
              <a:t>block are ignored. The program searches the catch blocks in </a:t>
            </a:r>
            <a:r>
              <a:rPr lang="en-US" dirty="0" smtClean="0"/>
              <a:t>the order </a:t>
            </a:r>
            <a:r>
              <a:rPr lang="en-US" dirty="0"/>
              <a:t>they appear after the try block and looks for an appropriate </a:t>
            </a:r>
            <a:r>
              <a:rPr lang="en-US" dirty="0" smtClean="0"/>
              <a:t>exception handler.</a:t>
            </a:r>
          </a:p>
          <a:p>
            <a:pPr algn="just"/>
            <a:r>
              <a:rPr lang="en-US" dirty="0" smtClean="0"/>
              <a:t> </a:t>
            </a:r>
            <a:r>
              <a:rPr lang="en-US" dirty="0"/>
              <a:t>If the type of thrown exception matches the parameter </a:t>
            </a:r>
            <a:r>
              <a:rPr lang="en-US" dirty="0" smtClean="0"/>
              <a:t>type in </a:t>
            </a:r>
            <a:r>
              <a:rPr lang="en-US" dirty="0"/>
              <a:t>one of the </a:t>
            </a:r>
            <a:r>
              <a:rPr lang="en-US" dirty="0" smtClean="0"/>
              <a:t>catch blocks</a:t>
            </a:r>
            <a:r>
              <a:rPr lang="en-US" dirty="0"/>
              <a:t>, the code of that catch block executes, </a:t>
            </a:r>
            <a:r>
              <a:rPr lang="en-US" dirty="0" smtClean="0"/>
              <a:t>and the </a:t>
            </a:r>
            <a:r>
              <a:rPr lang="en-US" dirty="0"/>
              <a:t>remaining catch blocks after this catch block are ignored.</a:t>
            </a:r>
          </a:p>
          <a:p>
            <a:pPr algn="just"/>
            <a:r>
              <a:rPr lang="en-US" dirty="0" smtClean="0"/>
              <a:t>The </a:t>
            </a:r>
            <a:r>
              <a:rPr lang="en-US" dirty="0"/>
              <a:t>last catch block that has an ellipses (three dots) is designed to </a:t>
            </a:r>
            <a:r>
              <a:rPr lang="en-US" dirty="0" smtClean="0"/>
              <a:t>catch any </a:t>
            </a:r>
            <a:r>
              <a:rPr lang="en-US" dirty="0"/>
              <a:t>type of exception.</a:t>
            </a:r>
          </a:p>
        </p:txBody>
      </p:sp>
    </p:spTree>
    <p:extLst>
      <p:ext uri="{BB962C8B-B14F-4D97-AF65-F5344CB8AC3E}">
        <p14:creationId xmlns:p14="http://schemas.microsoft.com/office/powerpoint/2010/main" val="1482608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8882" y="830543"/>
            <a:ext cx="10515600" cy="4351338"/>
          </a:xfrm>
        </p:spPr>
        <p:txBody>
          <a:bodyPr>
            <a:normAutofit fontScale="77500" lnSpcReduction="20000"/>
          </a:bodyPr>
          <a:lstStyle/>
          <a:p>
            <a:r>
              <a:rPr lang="en-US" dirty="0"/>
              <a:t>try //Line 1</a:t>
            </a:r>
          </a:p>
          <a:p>
            <a:r>
              <a:rPr lang="en-US" dirty="0"/>
              <a:t>{</a:t>
            </a:r>
          </a:p>
          <a:p>
            <a:r>
              <a:rPr lang="en-US" dirty="0"/>
              <a:t>//statements</a:t>
            </a:r>
          </a:p>
          <a:p>
            <a:r>
              <a:rPr lang="en-US" dirty="0"/>
              <a:t>}</a:t>
            </a:r>
          </a:p>
          <a:p>
            <a:r>
              <a:rPr lang="en-US" dirty="0"/>
              <a:t>catch (...) //Line 2</a:t>
            </a:r>
          </a:p>
          <a:p>
            <a:r>
              <a:rPr lang="en-US" dirty="0"/>
              <a:t>{</a:t>
            </a:r>
          </a:p>
          <a:p>
            <a:r>
              <a:rPr lang="en-US" dirty="0"/>
              <a:t>//statements</a:t>
            </a:r>
          </a:p>
          <a:p>
            <a:r>
              <a:rPr lang="en-US" dirty="0"/>
              <a:t>}</a:t>
            </a:r>
          </a:p>
          <a:p>
            <a:r>
              <a:rPr lang="en-US" dirty="0"/>
              <a:t>catch (int x) //Line 3</a:t>
            </a:r>
          </a:p>
          <a:p>
            <a:r>
              <a:rPr lang="en-US" dirty="0"/>
              <a:t>{</a:t>
            </a:r>
          </a:p>
          <a:p>
            <a:r>
              <a:rPr lang="en-US" dirty="0"/>
              <a:t>//statements</a:t>
            </a:r>
          </a:p>
          <a:p>
            <a:r>
              <a:rPr lang="en-US" dirty="0"/>
              <a:t>}</a:t>
            </a:r>
          </a:p>
        </p:txBody>
      </p:sp>
    </p:spTree>
    <p:extLst>
      <p:ext uri="{BB962C8B-B14F-4D97-AF65-F5344CB8AC3E}">
        <p14:creationId xmlns:p14="http://schemas.microsoft.com/office/powerpoint/2010/main" val="100560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9224" y="427130"/>
            <a:ext cx="4347067" cy="6333887"/>
          </a:xfrm>
        </p:spPr>
        <p:txBody>
          <a:bodyPr>
            <a:noAutofit/>
          </a:bodyPr>
          <a:lstStyle/>
          <a:p>
            <a:r>
              <a:rPr lang="en-US" sz="1800" b="1" dirty="0"/>
              <a:t>#include &lt;iostream&gt;</a:t>
            </a:r>
          </a:p>
          <a:p>
            <a:r>
              <a:rPr lang="en-US" sz="1800" b="1" dirty="0"/>
              <a:t>using namespace std;</a:t>
            </a:r>
          </a:p>
          <a:p>
            <a:r>
              <a:rPr lang="en-US" sz="1800" b="1" dirty="0"/>
              <a:t>int main() {</a:t>
            </a:r>
          </a:p>
          <a:p>
            <a:r>
              <a:rPr lang="en-US" sz="1800" b="1" dirty="0"/>
              <a:t>int dividend, divisor, quotient; </a:t>
            </a:r>
            <a:endParaRPr lang="en-US" sz="1800" b="1" dirty="0" smtClean="0"/>
          </a:p>
          <a:p>
            <a:r>
              <a:rPr lang="en-US" sz="1800" b="1" dirty="0" smtClean="0"/>
              <a:t>try </a:t>
            </a:r>
            <a:r>
              <a:rPr lang="en-US" sz="1800" b="1" dirty="0"/>
              <a:t>{</a:t>
            </a:r>
          </a:p>
          <a:p>
            <a:r>
              <a:rPr lang="en-US" sz="1800" b="1" dirty="0"/>
              <a:t>cout &lt;&lt; "Line 3: Enter the dividend: "; </a:t>
            </a:r>
          </a:p>
          <a:p>
            <a:r>
              <a:rPr lang="en-US" sz="1800" b="1" dirty="0" err="1" smtClean="0"/>
              <a:t>cin</a:t>
            </a:r>
            <a:r>
              <a:rPr lang="en-US" sz="1800" b="1" dirty="0" smtClean="0"/>
              <a:t> </a:t>
            </a:r>
            <a:r>
              <a:rPr lang="en-US" sz="1800" b="1" dirty="0"/>
              <a:t>&gt;&gt; dividend; </a:t>
            </a:r>
            <a:endParaRPr lang="en-US" sz="1800" b="1" dirty="0" smtClean="0"/>
          </a:p>
          <a:p>
            <a:r>
              <a:rPr lang="en-US" sz="1800" b="1" dirty="0" err="1" smtClean="0"/>
              <a:t>cout</a:t>
            </a:r>
            <a:r>
              <a:rPr lang="en-US" sz="1800" b="1" dirty="0" smtClean="0"/>
              <a:t> </a:t>
            </a:r>
            <a:r>
              <a:rPr lang="en-US" sz="1800" b="1" dirty="0"/>
              <a:t>&lt;&lt; endl; </a:t>
            </a:r>
            <a:endParaRPr lang="en-US" sz="1800" b="1" dirty="0" smtClean="0"/>
          </a:p>
          <a:p>
            <a:r>
              <a:rPr lang="en-US" sz="1800" b="1" dirty="0" err="1" smtClean="0"/>
              <a:t>cout</a:t>
            </a:r>
            <a:r>
              <a:rPr lang="en-US" sz="1800" b="1" dirty="0" smtClean="0"/>
              <a:t> </a:t>
            </a:r>
            <a:r>
              <a:rPr lang="en-US" sz="1800" b="1" dirty="0"/>
              <a:t>&lt;&lt; "Line 6: Enter the divisor: "; </a:t>
            </a:r>
          </a:p>
        </p:txBody>
      </p:sp>
      <p:sp>
        <p:nvSpPr>
          <p:cNvPr id="2" name="TextBox 1"/>
          <p:cNvSpPr txBox="1"/>
          <p:nvPr/>
        </p:nvSpPr>
        <p:spPr>
          <a:xfrm>
            <a:off x="5306291" y="1131351"/>
            <a:ext cx="6179127" cy="4247317"/>
          </a:xfrm>
          <a:prstGeom prst="rect">
            <a:avLst/>
          </a:prstGeom>
          <a:noFill/>
        </p:spPr>
        <p:txBody>
          <a:bodyPr wrap="square" rtlCol="0">
            <a:spAutoFit/>
          </a:bodyPr>
          <a:lstStyle/>
          <a:p>
            <a:r>
              <a:rPr lang="en-US" b="1" dirty="0" err="1"/>
              <a:t>cin</a:t>
            </a:r>
            <a:r>
              <a:rPr lang="en-US" b="1" dirty="0"/>
              <a:t> &gt;&gt; divisor; </a:t>
            </a:r>
            <a:endParaRPr lang="en-US" b="1" dirty="0" smtClean="0"/>
          </a:p>
          <a:p>
            <a:r>
              <a:rPr lang="en-US" b="1" dirty="0" err="1" smtClean="0"/>
              <a:t>cout</a:t>
            </a:r>
            <a:r>
              <a:rPr lang="en-US" b="1" dirty="0" smtClean="0"/>
              <a:t> </a:t>
            </a:r>
            <a:r>
              <a:rPr lang="en-US" b="1" dirty="0"/>
              <a:t>&lt;&lt; </a:t>
            </a:r>
            <a:r>
              <a:rPr lang="en-US" b="1" dirty="0" err="1"/>
              <a:t>endl</a:t>
            </a:r>
            <a:r>
              <a:rPr lang="en-US" b="1" dirty="0"/>
              <a:t>; </a:t>
            </a:r>
            <a:endParaRPr lang="en-US" b="1" dirty="0" smtClean="0"/>
          </a:p>
          <a:p>
            <a:r>
              <a:rPr lang="en-US" b="1" dirty="0" smtClean="0"/>
              <a:t>if </a:t>
            </a:r>
            <a:r>
              <a:rPr lang="en-US" b="1" dirty="0"/>
              <a:t>(divisor == 0) </a:t>
            </a:r>
            <a:endParaRPr lang="en-US" b="1" dirty="0" smtClean="0"/>
          </a:p>
          <a:p>
            <a:r>
              <a:rPr lang="en-US" b="1" dirty="0" smtClean="0"/>
              <a:t>throw </a:t>
            </a:r>
            <a:r>
              <a:rPr lang="en-US" b="1" dirty="0"/>
              <a:t>0; </a:t>
            </a:r>
          </a:p>
          <a:p>
            <a:r>
              <a:rPr lang="en-US" b="1" dirty="0"/>
              <a:t>quotient = dividend / divisor; </a:t>
            </a:r>
            <a:endParaRPr lang="en-US" b="1" dirty="0" smtClean="0"/>
          </a:p>
          <a:p>
            <a:r>
              <a:rPr lang="fr-FR" b="1" dirty="0" smtClean="0"/>
              <a:t>cout </a:t>
            </a:r>
            <a:r>
              <a:rPr lang="fr-FR" b="1" dirty="0"/>
              <a:t>&lt;&lt; "Line 12: Quotient = " &lt;&lt; quotient</a:t>
            </a:r>
          </a:p>
          <a:p>
            <a:r>
              <a:rPr lang="en-US" b="1" dirty="0"/>
              <a:t>&lt;&lt; </a:t>
            </a:r>
            <a:r>
              <a:rPr lang="en-US" b="1" dirty="0" err="1"/>
              <a:t>endl</a:t>
            </a:r>
            <a:r>
              <a:rPr lang="en-US" b="1" dirty="0" smtClean="0"/>
              <a:t>;</a:t>
            </a:r>
          </a:p>
          <a:p>
            <a:r>
              <a:rPr lang="en-US" b="1" dirty="0" smtClean="0"/>
              <a:t>}</a:t>
            </a:r>
            <a:endParaRPr lang="en-US" b="1" dirty="0"/>
          </a:p>
          <a:p>
            <a:r>
              <a:rPr lang="en-US" b="1" dirty="0"/>
              <a:t>catch (</a:t>
            </a:r>
            <a:r>
              <a:rPr lang="en-US" b="1" dirty="0" err="1"/>
              <a:t>int</a:t>
            </a:r>
            <a:r>
              <a:rPr lang="en-US" b="1" dirty="0"/>
              <a:t>) </a:t>
            </a:r>
            <a:endParaRPr lang="en-US" b="1" dirty="0" smtClean="0"/>
          </a:p>
          <a:p>
            <a:r>
              <a:rPr lang="en-US" b="1" dirty="0" smtClean="0"/>
              <a:t>{</a:t>
            </a:r>
            <a:endParaRPr lang="en-US" b="1" dirty="0"/>
          </a:p>
          <a:p>
            <a:r>
              <a:rPr lang="en-US" b="1" dirty="0" err="1"/>
              <a:t>cout</a:t>
            </a:r>
            <a:r>
              <a:rPr lang="en-US" b="1" dirty="0"/>
              <a:t> &lt;&lt; "Line 14: Division by 0." &lt;&lt; </a:t>
            </a:r>
            <a:r>
              <a:rPr lang="en-US" b="1" dirty="0" err="1"/>
              <a:t>endl</a:t>
            </a:r>
            <a:r>
              <a:rPr lang="en-US" b="1" dirty="0" smtClean="0"/>
              <a:t>;</a:t>
            </a:r>
          </a:p>
          <a:p>
            <a:r>
              <a:rPr lang="en-US" b="1" dirty="0" smtClean="0"/>
              <a:t>}</a:t>
            </a:r>
            <a:endParaRPr lang="en-US" b="1" dirty="0"/>
          </a:p>
          <a:p>
            <a:r>
              <a:rPr lang="en-US" b="1" dirty="0"/>
              <a:t>return 0</a:t>
            </a:r>
            <a:r>
              <a:rPr lang="en-US" b="1" dirty="0" smtClean="0"/>
              <a:t>;</a:t>
            </a:r>
          </a:p>
          <a:p>
            <a:r>
              <a:rPr lang="en-US" b="1" dirty="0" smtClean="0"/>
              <a:t>}</a:t>
            </a:r>
            <a:endParaRPr lang="en-US" b="1" dirty="0"/>
          </a:p>
          <a:p>
            <a:endParaRPr lang="en-US" dirty="0"/>
          </a:p>
        </p:txBody>
      </p:sp>
      <p:sp>
        <p:nvSpPr>
          <p:cNvPr id="4" name="TextBox 3"/>
          <p:cNvSpPr txBox="1"/>
          <p:nvPr/>
        </p:nvSpPr>
        <p:spPr>
          <a:xfrm>
            <a:off x="5638800" y="427130"/>
            <a:ext cx="4142509" cy="369332"/>
          </a:xfrm>
          <a:prstGeom prst="rect">
            <a:avLst/>
          </a:prstGeom>
          <a:noFill/>
        </p:spPr>
        <p:txBody>
          <a:bodyPr wrap="square" rtlCol="0">
            <a:spAutoFit/>
          </a:bodyPr>
          <a:lstStyle/>
          <a:p>
            <a:r>
              <a:rPr lang="en-US" dirty="0" smtClean="0"/>
              <a:t>Continue:</a:t>
            </a:r>
            <a:endParaRPr lang="en-US" dirty="0"/>
          </a:p>
        </p:txBody>
      </p:sp>
    </p:spTree>
    <p:extLst>
      <p:ext uri="{BB962C8B-B14F-4D97-AF65-F5344CB8AC3E}">
        <p14:creationId xmlns:p14="http://schemas.microsoft.com/office/powerpoint/2010/main" val="2293540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File Handling in C++</a:t>
            </a:r>
          </a:p>
        </p:txBody>
      </p:sp>
    </p:spTree>
    <p:extLst>
      <p:ext uri="{BB962C8B-B14F-4D97-AF65-F5344CB8AC3E}">
        <p14:creationId xmlns:p14="http://schemas.microsoft.com/office/powerpoint/2010/main" val="89039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6" name="Rectangle 2"/>
          <p:cNvSpPr>
            <a:spLocks noChangeArrowheads="1"/>
          </p:cNvSpPr>
          <p:nvPr/>
        </p:nvSpPr>
        <p:spPr bwMode="auto">
          <a:xfrm>
            <a:off x="1233856" y="2022757"/>
            <a:ext cx="935101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dirty="0">
                <a:latin typeface="Arial" panose="020B0604020202020204" pitchFamily="34" charset="0"/>
              </a:rPr>
              <a:t>File handling in C++ is the mechanism used to store, retrieve, and manipulate data in files. It enables programs to maintain data permanently on secondary storage devices, allowing information to persist even after the program terminates. The C++ Standard Library provides file handling through the </a:t>
            </a:r>
            <a:r>
              <a:rPr lang="en-US" altLang="en-US" sz="1000" dirty="0">
                <a:latin typeface="Arial Unicode MS"/>
              </a:rPr>
              <a:t>&lt;</a:t>
            </a:r>
            <a:r>
              <a:rPr lang="en-US" altLang="en-US" sz="1000" dirty="0" err="1">
                <a:latin typeface="Arial Unicode MS"/>
              </a:rPr>
              <a:t>fstream</a:t>
            </a:r>
            <a:r>
              <a:rPr lang="en-US" altLang="en-US" sz="1000" dirty="0">
                <a:latin typeface="Arial Unicode MS"/>
              </a:rPr>
              <a:t>&gt;</a:t>
            </a:r>
            <a:r>
              <a:rPr lang="en-US" altLang="en-US" dirty="0">
                <a:latin typeface="Arial" panose="020B0604020202020204" pitchFamily="34" charset="0"/>
              </a:rPr>
              <a:t> classes, which support reading from and writing to files efficiently. This feature is essential for managing large amounts of data and developing real-world applications. </a:t>
            </a:r>
          </a:p>
        </p:txBody>
      </p:sp>
    </p:spTree>
    <p:extLst>
      <p:ext uri="{BB962C8B-B14F-4D97-AF65-F5344CB8AC3E}">
        <p14:creationId xmlns:p14="http://schemas.microsoft.com/office/powerpoint/2010/main" val="2966638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File Handling?</a:t>
            </a:r>
          </a:p>
        </p:txBody>
      </p:sp>
      <p:sp>
        <p:nvSpPr>
          <p:cNvPr id="3" name="Content Placeholder 2"/>
          <p:cNvSpPr>
            <a:spLocks noGrp="1"/>
          </p:cNvSpPr>
          <p:nvPr>
            <p:ph idx="1"/>
          </p:nvPr>
        </p:nvSpPr>
        <p:spPr/>
        <p:txBody>
          <a:bodyPr/>
          <a:lstStyle/>
          <a:p>
            <a:r>
              <a:t>• Permanent storage</a:t>
            </a:r>
          </a:p>
          <a:p>
            <a:r>
              <a:t>• Data sharing</a:t>
            </a:r>
          </a:p>
          <a:p>
            <a:r>
              <a:t>• Processing large datasets</a:t>
            </a:r>
          </a:p>
          <a:p>
            <a:r>
              <a:t>• Saving program output</a:t>
            </a:r>
          </a:p>
        </p:txBody>
      </p:sp>
    </p:spTree>
    <p:extLst>
      <p:ext uri="{BB962C8B-B14F-4D97-AF65-F5344CB8AC3E}">
        <p14:creationId xmlns:p14="http://schemas.microsoft.com/office/powerpoint/2010/main" val="1303444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Header and Streams</a:t>
            </a:r>
          </a:p>
        </p:txBody>
      </p:sp>
      <p:sp>
        <p:nvSpPr>
          <p:cNvPr id="3" name="Content Placeholder 2"/>
          <p:cNvSpPr>
            <a:spLocks noGrp="1"/>
          </p:cNvSpPr>
          <p:nvPr>
            <p:ph idx="1"/>
          </p:nvPr>
        </p:nvSpPr>
        <p:spPr/>
        <p:txBody>
          <a:bodyPr/>
          <a:lstStyle/>
          <a:p>
            <a:r>
              <a:t>#include &lt;fstream&gt;</a:t>
            </a:r>
          </a:p>
          <a:p>
            <a:r>
              <a:t>ifstream: Read</a:t>
            </a:r>
          </a:p>
          <a:p>
            <a:r>
              <a:t>ofstream: Write</a:t>
            </a:r>
          </a:p>
          <a:p>
            <a:r>
              <a:t>fstream: Read and Write</a:t>
            </a:r>
          </a:p>
        </p:txBody>
      </p:sp>
    </p:spTree>
    <p:extLst>
      <p:ext uri="{BB962C8B-B14F-4D97-AF65-F5344CB8AC3E}">
        <p14:creationId xmlns:p14="http://schemas.microsoft.com/office/powerpoint/2010/main" val="2224237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Writing to a File</a:t>
            </a:r>
          </a:p>
        </p:txBody>
      </p:sp>
      <p:sp>
        <p:nvSpPr>
          <p:cNvPr id="3" name="Content Placeholder 2"/>
          <p:cNvSpPr>
            <a:spLocks noGrp="1"/>
          </p:cNvSpPr>
          <p:nvPr>
            <p:ph idx="1"/>
          </p:nvPr>
        </p:nvSpPr>
        <p:spPr/>
        <p:txBody>
          <a:bodyPr/>
          <a:lstStyle/>
          <a:p>
            <a:r>
              <a:t>ofstream file("data.txt");</a:t>
            </a:r>
          </a:p>
          <a:p>
            <a:r>
              <a:t>file &lt;&lt; "Hello World";</a:t>
            </a:r>
          </a:p>
          <a:p>
            <a:r>
              <a:t>file.close();</a:t>
            </a:r>
          </a:p>
        </p:txBody>
      </p:sp>
    </p:spTree>
    <p:extLst>
      <p:ext uri="{BB962C8B-B14F-4D97-AF65-F5344CB8AC3E}">
        <p14:creationId xmlns:p14="http://schemas.microsoft.com/office/powerpoint/2010/main" val="285018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from a File</a:t>
            </a:r>
          </a:p>
        </p:txBody>
      </p:sp>
      <p:sp>
        <p:nvSpPr>
          <p:cNvPr id="3" name="Content Placeholder 2"/>
          <p:cNvSpPr>
            <a:spLocks noGrp="1"/>
          </p:cNvSpPr>
          <p:nvPr>
            <p:ph idx="1"/>
          </p:nvPr>
        </p:nvSpPr>
        <p:spPr/>
        <p:txBody>
          <a:bodyPr/>
          <a:lstStyle/>
          <a:p>
            <a:r>
              <a:t>ifstream file("data.txt");</a:t>
            </a:r>
          </a:p>
          <a:p>
            <a:r>
              <a:t>string line;</a:t>
            </a:r>
          </a:p>
          <a:p>
            <a:r>
              <a:t>getline(file, line);</a:t>
            </a:r>
          </a:p>
        </p:txBody>
      </p:sp>
    </p:spTree>
    <p:extLst>
      <p:ext uri="{BB962C8B-B14F-4D97-AF65-F5344CB8AC3E}">
        <p14:creationId xmlns:p14="http://schemas.microsoft.com/office/powerpoint/2010/main" val="3147654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File Modes</a:t>
            </a:r>
          </a:p>
        </p:txBody>
      </p:sp>
      <p:graphicFrame>
        <p:nvGraphicFramePr>
          <p:cNvPr id="4" name="Table 3"/>
          <p:cNvGraphicFramePr>
            <a:graphicFrameLocks noGrp="1"/>
          </p:cNvGraphicFramePr>
          <p:nvPr>
            <p:extLst/>
          </p:nvPr>
        </p:nvGraphicFramePr>
        <p:xfrm>
          <a:off x="1981200" y="1814573"/>
          <a:ext cx="8229600" cy="3657600"/>
        </p:xfrm>
        <a:graphic>
          <a:graphicData uri="http://schemas.openxmlformats.org/drawingml/2006/table">
            <a:tbl>
              <a:tblPr/>
              <a:tblGrid>
                <a:gridCol w="4114800">
                  <a:extLst>
                    <a:ext uri="{9D8B030D-6E8A-4147-A177-3AD203B41FA5}">
                      <a16:colId xmlns:a16="http://schemas.microsoft.com/office/drawing/2014/main" val="3432782096"/>
                    </a:ext>
                  </a:extLst>
                </a:gridCol>
                <a:gridCol w="4114800">
                  <a:extLst>
                    <a:ext uri="{9D8B030D-6E8A-4147-A177-3AD203B41FA5}">
                      <a16:colId xmlns:a16="http://schemas.microsoft.com/office/drawing/2014/main" val="2467513893"/>
                    </a:ext>
                  </a:extLst>
                </a:gridCol>
              </a:tblGrid>
              <a:tr h="0">
                <a:tc>
                  <a:txBody>
                    <a:bodyPr/>
                    <a:lstStyle/>
                    <a:p>
                      <a:r>
                        <a:rPr lang="en-US" b="1" dirty="0">
                          <a:solidFill>
                            <a:schemeClr val="tx1"/>
                          </a:solidFill>
                        </a:rPr>
                        <a:t>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202363"/>
                  </a:ext>
                </a:extLst>
              </a:tr>
              <a:tr h="0">
                <a:tc>
                  <a:txBody>
                    <a:bodyPr/>
                    <a:lstStyle/>
                    <a:p>
                      <a:r>
                        <a:rPr lang="en-US" dirty="0"/>
                        <a:t>ios::in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Opens a file for reading.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8223273"/>
                  </a:ext>
                </a:extLst>
              </a:tr>
              <a:tr h="0">
                <a:tc>
                  <a:txBody>
                    <a:bodyPr/>
                    <a:lstStyle/>
                    <a:p>
                      <a:r>
                        <a:rPr lang="en-US" dirty="0"/>
                        <a:t>ios::out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Opens a file for writing.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0294984"/>
                  </a:ext>
                </a:extLst>
              </a:tr>
              <a:tr h="0">
                <a:tc>
                  <a:txBody>
                    <a:bodyPr/>
                    <a:lstStyle/>
                    <a:p>
                      <a:r>
                        <a:rPr lang="en-US" dirty="0"/>
                        <a:t>ios::app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Appends data to the end of the file without deleting existing content.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3653783"/>
                  </a:ext>
                </a:extLst>
              </a:tr>
              <a:tr h="0">
                <a:tc>
                  <a:txBody>
                    <a:bodyPr/>
                    <a:lstStyle/>
                    <a:p>
                      <a:r>
                        <a:rPr lang="en-US" dirty="0"/>
                        <a:t>ios::ate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Opens a file and moves the file pointer to the 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0565630"/>
                  </a:ext>
                </a:extLst>
              </a:tr>
              <a:tr h="0">
                <a:tc>
                  <a:txBody>
                    <a:bodyPr/>
                    <a:lstStyle/>
                    <a:p>
                      <a:r>
                        <a:rPr lang="en-US" dirty="0"/>
                        <a:t>ios::</a:t>
                      </a:r>
                      <a:r>
                        <a:rPr lang="en-US" dirty="0" err="1"/>
                        <a:t>trunc</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Deletes all existing contents of the file when opened.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2514013"/>
                  </a:ext>
                </a:extLst>
              </a:tr>
              <a:tr h="0">
                <a:tc>
                  <a:txBody>
                    <a:bodyPr/>
                    <a:lstStyle/>
                    <a:p>
                      <a:r>
                        <a:rPr lang="en-US" dirty="0"/>
                        <a:t>ios::binary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Opens a file in binary mode instead of text 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030764"/>
                  </a:ext>
                </a:extLst>
              </a:tr>
            </a:tbl>
          </a:graphicData>
        </a:graphic>
      </p:graphicFrame>
    </p:spTree>
    <p:extLst>
      <p:ext uri="{BB962C8B-B14F-4D97-AF65-F5344CB8AC3E}">
        <p14:creationId xmlns:p14="http://schemas.microsoft.com/office/powerpoint/2010/main" val="146739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File Open</a:t>
            </a:r>
          </a:p>
        </p:txBody>
      </p:sp>
      <p:sp>
        <p:nvSpPr>
          <p:cNvPr id="3" name="Content Placeholder 2"/>
          <p:cNvSpPr>
            <a:spLocks noGrp="1"/>
          </p:cNvSpPr>
          <p:nvPr>
            <p:ph idx="1"/>
          </p:nvPr>
        </p:nvSpPr>
        <p:spPr/>
        <p:txBody>
          <a:bodyPr/>
          <a:lstStyle/>
          <a:p>
            <a:r>
              <a:t>if(!file){</a:t>
            </a:r>
          </a:p>
          <a:p>
            <a:r>
              <a:t>  cout &lt;&lt; "Error";</a:t>
            </a:r>
          </a:p>
          <a:p>
            <a:r>
              <a:t>}</a:t>
            </a:r>
          </a:p>
        </p:txBody>
      </p:sp>
    </p:spTree>
    <p:extLst>
      <p:ext uri="{BB962C8B-B14F-4D97-AF65-F5344CB8AC3E}">
        <p14:creationId xmlns:p14="http://schemas.microsoft.com/office/powerpoint/2010/main" val="1759220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96862" y="2127739"/>
            <a:ext cx="6286500" cy="1107996"/>
          </a:xfrm>
          <a:prstGeom prst="rect">
            <a:avLst/>
          </a:prstGeom>
          <a:noFill/>
        </p:spPr>
        <p:txBody>
          <a:bodyPr wrap="square" rtlCol="0">
            <a:spAutoFit/>
          </a:bodyPr>
          <a:lstStyle/>
          <a:p>
            <a:r>
              <a:rPr lang="en-US" sz="6600" dirty="0"/>
              <a:t>Thanks ! </a:t>
            </a:r>
          </a:p>
        </p:txBody>
      </p:sp>
    </p:spTree>
    <p:extLst>
      <p:ext uri="{BB962C8B-B14F-4D97-AF65-F5344CB8AC3E}">
        <p14:creationId xmlns:p14="http://schemas.microsoft.com/office/powerpoint/2010/main" val="3755664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852</Words>
  <Application>Microsoft Office PowerPoint</Application>
  <PresentationFormat>Widescreen</PresentationFormat>
  <Paragraphs>133</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Unicode MS</vt:lpstr>
      <vt:lpstr>Calibri</vt:lpstr>
      <vt:lpstr>Calibri Light</vt:lpstr>
      <vt:lpstr>Times New Roman</vt:lpstr>
      <vt:lpstr>Office Theme</vt:lpstr>
      <vt:lpstr>Ministry of Higher Education Kabul university  faculty of  Information &amp; communication technology</vt:lpstr>
      <vt:lpstr>PowerPoint Presentation</vt:lpstr>
      <vt:lpstr>PowerPoint Presentation</vt:lpstr>
      <vt:lpstr>PowerPoint Presentation</vt:lpstr>
      <vt:lpstr>PowerPoint Presentation</vt:lpstr>
      <vt:lpstr>Error types</vt:lpstr>
      <vt:lpstr>Exception Handling</vt:lpstr>
      <vt:lpstr>C++ Mechanisms of Exception Handling</vt:lpstr>
      <vt:lpstr>The general syntax of the try/catch block is: </vt:lpstr>
      <vt:lpstr>PowerPoint Presentation</vt:lpstr>
      <vt:lpstr>PowerPoint Presentation</vt:lpstr>
      <vt:lpstr>PowerPoint Presentation</vt:lpstr>
      <vt:lpstr>File Handling in C++</vt:lpstr>
      <vt:lpstr>Introduction</vt:lpstr>
      <vt:lpstr>Why File Handling?</vt:lpstr>
      <vt:lpstr>Header and Streams</vt:lpstr>
      <vt:lpstr>Writing to a File</vt:lpstr>
      <vt:lpstr>Reading from a File</vt:lpstr>
      <vt:lpstr>File Modes</vt:lpstr>
      <vt:lpstr>Checking File Open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Moorche</dc:creator>
  <cp:lastModifiedBy>Sayed Ziafat</cp:lastModifiedBy>
  <cp:revision>26</cp:revision>
  <dcterms:created xsi:type="dcterms:W3CDTF">2025-05-07T16:25:02Z</dcterms:created>
  <dcterms:modified xsi:type="dcterms:W3CDTF">2026-06-08T04:02:21Z</dcterms:modified>
</cp:coreProperties>
</file>