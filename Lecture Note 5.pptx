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356" r:id="rId2"/>
    <p:sldId id="310" r:id="rId3"/>
    <p:sldId id="312" r:id="rId4"/>
    <p:sldId id="359" r:id="rId5"/>
    <p:sldId id="357" r:id="rId6"/>
    <p:sldId id="358" r:id="rId7"/>
    <p:sldId id="315" r:id="rId8"/>
    <p:sldId id="316" r:id="rId9"/>
    <p:sldId id="318" r:id="rId10"/>
    <p:sldId id="339" r:id="rId11"/>
    <p:sldId id="353" r:id="rId12"/>
    <p:sldId id="354" r:id="rId13"/>
    <p:sldId id="355" r:id="rId14"/>
    <p:sldId id="340" r:id="rId15"/>
    <p:sldId id="341" r:id="rId16"/>
    <p:sldId id="342" r:id="rId17"/>
    <p:sldId id="344" r:id="rId18"/>
    <p:sldId id="345" r:id="rId19"/>
    <p:sldId id="346" r:id="rId20"/>
    <p:sldId id="347" r:id="rId21"/>
    <p:sldId id="34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364" autoAdjust="0"/>
  </p:normalViewPr>
  <p:slideViewPr>
    <p:cSldViewPr snapToGrid="0">
      <p:cViewPr varScale="1">
        <p:scale>
          <a:sx n="73" d="100"/>
          <a:sy n="73" d="100"/>
        </p:scale>
        <p:origin x="618" y="7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6" d="100"/>
          <a:sy n="56" d="100"/>
        </p:scale>
        <p:origin x="2856"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091ED5-8028-432C-83FE-F2583BCBE561}" type="datetimeFigureOut">
              <a:rPr lang="en-US" smtClean="0"/>
              <a:t>4/19/2026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17D412-DE9E-4A4F-B4FA-E5454B7F439E}" type="slidenum">
              <a:rPr lang="en-US" smtClean="0"/>
              <a:t>‹#›</a:t>
            </a:fld>
            <a:endParaRPr lang="en-US"/>
          </a:p>
        </p:txBody>
      </p:sp>
    </p:spTree>
    <p:extLst>
      <p:ext uri="{BB962C8B-B14F-4D97-AF65-F5344CB8AC3E}">
        <p14:creationId xmlns:p14="http://schemas.microsoft.com/office/powerpoint/2010/main" val="1112705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9EEE847-E790-43EB-ABCA-B4B9E43A8CF9}"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8C9806-4E94-4E10-B65C-25BA56C314E7}" type="slidenum">
              <a:rPr lang="en-US" smtClean="0"/>
              <a:t>‹#›</a:t>
            </a:fld>
            <a:endParaRPr lang="en-US"/>
          </a:p>
        </p:txBody>
      </p:sp>
    </p:spTree>
    <p:extLst>
      <p:ext uri="{BB962C8B-B14F-4D97-AF65-F5344CB8AC3E}">
        <p14:creationId xmlns:p14="http://schemas.microsoft.com/office/powerpoint/2010/main" val="12013779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9EEE847-E790-43EB-ABCA-B4B9E43A8CF9}"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8C9806-4E94-4E10-B65C-25BA56C314E7}" type="slidenum">
              <a:rPr lang="en-US" smtClean="0"/>
              <a:t>‹#›</a:t>
            </a:fld>
            <a:endParaRPr lang="en-US"/>
          </a:p>
        </p:txBody>
      </p:sp>
    </p:spTree>
    <p:extLst>
      <p:ext uri="{BB962C8B-B14F-4D97-AF65-F5344CB8AC3E}">
        <p14:creationId xmlns:p14="http://schemas.microsoft.com/office/powerpoint/2010/main" val="2337819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D6ED3C3-BDD2-4944-B004-4C8514BE6DF2}"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290FCE-E175-429D-91FA-922953F01886}" type="slidenum">
              <a:rPr lang="en-US" smtClean="0"/>
              <a:t>‹#›</a:t>
            </a:fld>
            <a:endParaRPr lang="en-US"/>
          </a:p>
        </p:txBody>
      </p:sp>
    </p:spTree>
    <p:extLst>
      <p:ext uri="{BB962C8B-B14F-4D97-AF65-F5344CB8AC3E}">
        <p14:creationId xmlns:p14="http://schemas.microsoft.com/office/powerpoint/2010/main" val="1309034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D6ED3C3-BDD2-4944-B004-4C8514BE6DF2}" type="datetimeFigureOut">
              <a:rPr lang="en-US" smtClean="0"/>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290FCE-E175-429D-91FA-922953F01886}" type="slidenum">
              <a:rPr lang="en-US" smtClean="0"/>
              <a:t>‹#›</a:t>
            </a:fld>
            <a:endParaRPr lang="en-US"/>
          </a:p>
        </p:txBody>
      </p:sp>
    </p:spTree>
    <p:extLst>
      <p:ext uri="{BB962C8B-B14F-4D97-AF65-F5344CB8AC3E}">
        <p14:creationId xmlns:p14="http://schemas.microsoft.com/office/powerpoint/2010/main" val="14467415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D6ED3C3-BDD2-4944-B004-4C8514BE6DF2}" type="datetimeFigureOut">
              <a:rPr lang="en-US" smtClean="0"/>
              <a:t>4/19/2026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290FCE-E175-429D-91FA-922953F01886}" type="slidenum">
              <a:rPr lang="en-US" smtClean="0"/>
              <a:t>‹#›</a:t>
            </a:fld>
            <a:endParaRPr lang="en-US"/>
          </a:p>
        </p:txBody>
      </p:sp>
    </p:spTree>
    <p:extLst>
      <p:ext uri="{BB962C8B-B14F-4D97-AF65-F5344CB8AC3E}">
        <p14:creationId xmlns:p14="http://schemas.microsoft.com/office/powerpoint/2010/main" val="39013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D6ED3C3-BDD2-4944-B004-4C8514BE6DF2}" type="datetimeFigureOut">
              <a:rPr lang="en-US" smtClean="0"/>
              <a:t>4/19/2026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290FCE-E175-429D-91FA-922953F01886}" type="slidenum">
              <a:rPr lang="en-US" smtClean="0"/>
              <a:t>‹#›</a:t>
            </a:fld>
            <a:endParaRPr lang="en-US"/>
          </a:p>
        </p:txBody>
      </p:sp>
    </p:spTree>
    <p:extLst>
      <p:ext uri="{BB962C8B-B14F-4D97-AF65-F5344CB8AC3E}">
        <p14:creationId xmlns:p14="http://schemas.microsoft.com/office/powerpoint/2010/main" val="17573557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6ED3C3-BDD2-4944-B004-4C8514BE6DF2}" type="datetimeFigureOut">
              <a:rPr lang="en-US" smtClean="0"/>
              <a:t>4/19/2026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290FCE-E175-429D-91FA-922953F01886}" type="slidenum">
              <a:rPr lang="en-US" smtClean="0"/>
              <a:t>‹#›</a:t>
            </a:fld>
            <a:endParaRPr lang="en-US"/>
          </a:p>
        </p:txBody>
      </p:sp>
    </p:spTree>
    <p:extLst>
      <p:ext uri="{BB962C8B-B14F-4D97-AF65-F5344CB8AC3E}">
        <p14:creationId xmlns:p14="http://schemas.microsoft.com/office/powerpoint/2010/main" val="17250746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D6ED3C3-BDD2-4944-B004-4C8514BE6DF2}" type="datetimeFigureOut">
              <a:rPr lang="en-US" smtClean="0"/>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290FCE-E175-429D-91FA-922953F01886}" type="slidenum">
              <a:rPr lang="en-US" smtClean="0"/>
              <a:t>‹#›</a:t>
            </a:fld>
            <a:endParaRPr lang="en-US"/>
          </a:p>
        </p:txBody>
      </p:sp>
    </p:spTree>
    <p:extLst>
      <p:ext uri="{BB962C8B-B14F-4D97-AF65-F5344CB8AC3E}">
        <p14:creationId xmlns:p14="http://schemas.microsoft.com/office/powerpoint/2010/main" val="1278775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D6ED3C3-BDD2-4944-B004-4C8514BE6DF2}" type="datetimeFigureOut">
              <a:rPr lang="en-US" smtClean="0"/>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290FCE-E175-429D-91FA-922953F01886}" type="slidenum">
              <a:rPr lang="en-US" smtClean="0"/>
              <a:t>‹#›</a:t>
            </a:fld>
            <a:endParaRPr lang="en-US"/>
          </a:p>
        </p:txBody>
      </p:sp>
    </p:spTree>
    <p:extLst>
      <p:ext uri="{BB962C8B-B14F-4D97-AF65-F5344CB8AC3E}">
        <p14:creationId xmlns:p14="http://schemas.microsoft.com/office/powerpoint/2010/main" val="4036805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D6ED3C3-BDD2-4944-B004-4C8514BE6DF2}"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290FCE-E175-429D-91FA-922953F01886}" type="slidenum">
              <a:rPr lang="en-US" smtClean="0"/>
              <a:t>‹#›</a:t>
            </a:fld>
            <a:endParaRPr lang="en-US"/>
          </a:p>
        </p:txBody>
      </p:sp>
    </p:spTree>
    <p:extLst>
      <p:ext uri="{BB962C8B-B14F-4D97-AF65-F5344CB8AC3E}">
        <p14:creationId xmlns:p14="http://schemas.microsoft.com/office/powerpoint/2010/main" val="1133923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D6ED3C3-BDD2-4944-B004-4C8514BE6DF2}"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290FCE-E175-429D-91FA-922953F01886}" type="slidenum">
              <a:rPr lang="en-US" smtClean="0"/>
              <a:t>‹#›</a:t>
            </a:fld>
            <a:endParaRPr lang="en-US"/>
          </a:p>
        </p:txBody>
      </p:sp>
    </p:spTree>
    <p:extLst>
      <p:ext uri="{BB962C8B-B14F-4D97-AF65-F5344CB8AC3E}">
        <p14:creationId xmlns:p14="http://schemas.microsoft.com/office/powerpoint/2010/main" val="28318455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77543"/>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56545493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2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5107695"/>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3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3172526"/>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4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141126"/>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5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9465020"/>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6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7332263"/>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7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9383526"/>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8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7453288"/>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9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3357024"/>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10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9698381"/>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1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465233"/>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12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4639732"/>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13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996906866"/>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14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9856114"/>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userDrawn="1">
  <p:cSld name="15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0221217"/>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userDrawn="1">
  <p:cSld name="16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1409307"/>
      </p:ext>
    </p:extLst>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17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8493510"/>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18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0716652"/>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EEE847-E790-43EB-ABCA-B4B9E43A8CF9}" type="datetimeFigureOut">
              <a:rPr lang="en-US" smtClean="0"/>
              <a:t>4/19/2026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8C9806-4E94-4E10-B65C-25BA56C314E7}" type="slidenum">
              <a:rPr lang="en-US" smtClean="0"/>
              <a:t>‹#›</a:t>
            </a:fld>
            <a:endParaRPr lang="en-US"/>
          </a:p>
        </p:txBody>
      </p:sp>
    </p:spTree>
    <p:extLst>
      <p:ext uri="{BB962C8B-B14F-4D97-AF65-F5344CB8AC3E}">
        <p14:creationId xmlns:p14="http://schemas.microsoft.com/office/powerpoint/2010/main" val="18503839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50" name="Title 1">
            <a:extLst>
              <a:ext uri="{FF2B5EF4-FFF2-40B4-BE49-F238E27FC236}">
                <a16:creationId xmlns:a16="http://schemas.microsoft.com/office/drawing/2014/main" id="{6D97EE0B-44CC-FDA4-DC9E-89ABE2987BEC}"/>
              </a:ext>
            </a:extLst>
          </p:cNvPr>
          <p:cNvSpPr>
            <a:spLocks noGrp="1"/>
          </p:cNvSpPr>
          <p:nvPr>
            <p:ph type="ctrTitle" idx="4294967295"/>
          </p:nvPr>
        </p:nvSpPr>
        <p:spPr>
          <a:xfrm>
            <a:off x="2090058" y="292962"/>
            <a:ext cx="7772400" cy="4114800"/>
          </a:xfrm>
          <a:prstGeom prst="rect">
            <a:avLst/>
          </a:prstGeom>
        </p:spPr>
        <p:txBody>
          <a:bodyPr/>
          <a:lstStyle/>
          <a:p>
            <a:pPr algn="ctr" eaLnBrk="1" hangingPunct="1"/>
            <a:r>
              <a:rPr lang="en-US" sz="3600" dirty="0">
                <a:latin typeface="Times New Roman" panose="02020603050405020304" pitchFamily="18" charset="0"/>
                <a:cs typeface="Times New Roman" panose="02020603050405020304" pitchFamily="18" charset="0"/>
              </a:rPr>
              <a:t>Ministry of Higher Education</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Kabul university </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faculty of </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Information &amp; communication technology</a:t>
            </a:r>
            <a:endParaRPr lang="en-US" altLang="en-US" sz="3600" dirty="0"/>
          </a:p>
        </p:txBody>
      </p:sp>
      <p:sp>
        <p:nvSpPr>
          <p:cNvPr id="2051" name="Subtitle 2">
            <a:extLst>
              <a:ext uri="{FF2B5EF4-FFF2-40B4-BE49-F238E27FC236}">
                <a16:creationId xmlns:a16="http://schemas.microsoft.com/office/drawing/2014/main" id="{31DED1FE-90AC-64E5-7BD1-59B501D23B45}"/>
              </a:ext>
            </a:extLst>
          </p:cNvPr>
          <p:cNvSpPr>
            <a:spLocks noGrp="1"/>
          </p:cNvSpPr>
          <p:nvPr>
            <p:ph type="subTitle" idx="4294967295"/>
          </p:nvPr>
        </p:nvSpPr>
        <p:spPr>
          <a:xfrm>
            <a:off x="4143103" y="4374153"/>
            <a:ext cx="6781800" cy="1752600"/>
          </a:xfrm>
          <a:prstGeom prst="rect">
            <a:avLst/>
          </a:prstGeom>
        </p:spPr>
        <p:txBody>
          <a:bodyPr/>
          <a:lstStyle/>
          <a:p>
            <a:pPr marL="0" indent="0" eaLnBrk="1" hangingPunct="1">
              <a:buNone/>
            </a:pPr>
            <a:r>
              <a:rPr lang="en-US" dirty="0">
                <a:solidFill>
                  <a:schemeClr val="tx1"/>
                </a:solidFill>
                <a:latin typeface="Times New Roman" panose="02020603050405020304" pitchFamily="18" charset="0"/>
                <a:ea typeface="+mj-ea"/>
                <a:cs typeface="Times New Roman" panose="02020603050405020304" pitchFamily="18" charset="0"/>
              </a:rPr>
              <a:t>C++ Programming</a:t>
            </a:r>
          </a:p>
          <a:p>
            <a:pPr eaLnBrk="1" hangingPunct="1"/>
            <a:endParaRPr lang="en-US" altLang="en-US" sz="4000" b="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B35B349A-7922-0151-D3CF-3FB1586118F8}"/>
              </a:ext>
            </a:extLst>
          </p:cNvPr>
          <p:cNvSpPr>
            <a:spLocks noGrp="1"/>
          </p:cNvSpPr>
          <p:nvPr>
            <p:ph type="title" idx="4294967295"/>
          </p:nvPr>
        </p:nvSpPr>
        <p:spPr>
          <a:xfrm>
            <a:off x="1676400" y="763588"/>
            <a:ext cx="10515600" cy="1325562"/>
          </a:xfrm>
          <a:prstGeom prst="rect">
            <a:avLst/>
          </a:prstGeom>
        </p:spPr>
        <p:txBody>
          <a:bodyPr/>
          <a:lstStyle/>
          <a:p>
            <a:r>
              <a:rPr lang="en-US" altLang="en-US" dirty="0"/>
              <a:t>Loop</a:t>
            </a:r>
          </a:p>
        </p:txBody>
      </p:sp>
      <p:sp>
        <p:nvSpPr>
          <p:cNvPr id="54275" name="Content Placeholder 2">
            <a:extLst>
              <a:ext uri="{FF2B5EF4-FFF2-40B4-BE49-F238E27FC236}">
                <a16:creationId xmlns:a16="http://schemas.microsoft.com/office/drawing/2014/main" id="{08229E89-EFF6-600A-DB98-3C85C01D6D26}"/>
              </a:ext>
            </a:extLst>
          </p:cNvPr>
          <p:cNvSpPr>
            <a:spLocks noGrp="1"/>
          </p:cNvSpPr>
          <p:nvPr>
            <p:ph idx="4294967295"/>
          </p:nvPr>
        </p:nvSpPr>
        <p:spPr>
          <a:xfrm>
            <a:off x="1676400" y="1928813"/>
            <a:ext cx="10515600" cy="4351337"/>
          </a:xfrm>
          <a:prstGeom prst="rect">
            <a:avLst/>
          </a:prstGeom>
        </p:spPr>
        <p:txBody>
          <a:bodyPr/>
          <a:lstStyle/>
          <a:p>
            <a:r>
              <a:rPr lang="en-US" dirty="0"/>
              <a:t>a </a:t>
            </a:r>
            <a:r>
              <a:rPr lang="en-US" b="1" dirty="0"/>
              <a:t>loop</a:t>
            </a:r>
            <a:r>
              <a:rPr lang="en-US" dirty="0"/>
              <a:t> is a control structure that allows you to repeat a block of code multiple times, which is useful when you want to execute the same set of instructions repeatedly under certain conditions. Loops help reduce the need for repetitive code and make programs more efficient. C++ provides three main types of loops:</a:t>
            </a:r>
          </a:p>
          <a:p>
            <a:pPr>
              <a:buFont typeface="+mj-lt"/>
              <a:buAutoNum type="arabicPeriod"/>
            </a:pPr>
            <a:r>
              <a:rPr lang="en-US" b="1" dirty="0"/>
              <a:t>For Loop</a:t>
            </a:r>
            <a:endParaRPr lang="en-US" dirty="0"/>
          </a:p>
          <a:p>
            <a:pPr>
              <a:buFont typeface="+mj-lt"/>
              <a:buAutoNum type="arabicPeriod"/>
            </a:pPr>
            <a:r>
              <a:rPr lang="en-US" b="1" dirty="0"/>
              <a:t>While Loop</a:t>
            </a:r>
            <a:endParaRPr lang="en-US" dirty="0"/>
          </a:p>
          <a:p>
            <a:pPr>
              <a:buFont typeface="+mj-lt"/>
              <a:buAutoNum type="arabicPeriod"/>
            </a:pPr>
            <a:r>
              <a:rPr lang="en-US" b="1" dirty="0"/>
              <a:t>Do-While Loop</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C28AEC6F-2FF2-918D-0F35-9F710B07D568}"/>
              </a:ext>
            </a:extLst>
          </p:cNvPr>
          <p:cNvSpPr>
            <a:spLocks noGrp="1"/>
          </p:cNvSpPr>
          <p:nvPr>
            <p:ph type="title" idx="4294967295"/>
          </p:nvPr>
        </p:nvSpPr>
        <p:spPr>
          <a:xfrm>
            <a:off x="1676400" y="763588"/>
            <a:ext cx="10515600" cy="1325562"/>
          </a:xfrm>
          <a:prstGeom prst="rect">
            <a:avLst/>
          </a:prstGeom>
        </p:spPr>
        <p:txBody>
          <a:bodyPr/>
          <a:lstStyle/>
          <a:p>
            <a:r>
              <a:rPr lang="en-US" sz="4400" b="1" dirty="0"/>
              <a:t>For Loop</a:t>
            </a:r>
          </a:p>
        </p:txBody>
      </p:sp>
      <p:sp>
        <p:nvSpPr>
          <p:cNvPr id="55299" name="Content Placeholder 2">
            <a:extLst>
              <a:ext uri="{FF2B5EF4-FFF2-40B4-BE49-F238E27FC236}">
                <a16:creationId xmlns:a16="http://schemas.microsoft.com/office/drawing/2014/main" id="{292CBACB-91AF-26A6-D391-34BED6CDECCD}"/>
              </a:ext>
            </a:extLst>
          </p:cNvPr>
          <p:cNvSpPr>
            <a:spLocks noGrp="1"/>
          </p:cNvSpPr>
          <p:nvPr>
            <p:ph idx="4294967295"/>
          </p:nvPr>
        </p:nvSpPr>
        <p:spPr>
          <a:xfrm>
            <a:off x="0" y="1825625"/>
            <a:ext cx="6394450" cy="4351338"/>
          </a:xfrm>
          <a:prstGeom prst="rect">
            <a:avLst/>
          </a:prstGeom>
        </p:spPr>
        <p:txBody>
          <a:bodyPr/>
          <a:lstStyle/>
          <a:p>
            <a:r>
              <a:rPr lang="en-US" sz="2400" dirty="0"/>
              <a:t>The </a:t>
            </a:r>
            <a:r>
              <a:rPr lang="en-US" sz="2400" b="1" dirty="0"/>
              <a:t>for loop</a:t>
            </a:r>
            <a:r>
              <a:rPr lang="en-US" sz="2400" dirty="0"/>
              <a:t> is typically used when the number of iterations is known beforehand. It consists of three main parts:</a:t>
            </a:r>
          </a:p>
          <a:p>
            <a:pPr>
              <a:buFont typeface="Arial" panose="020B0604020202020204" pitchFamily="34" charset="0"/>
              <a:buChar char="•"/>
            </a:pPr>
            <a:r>
              <a:rPr lang="en-US" sz="2400" b="1" dirty="0"/>
              <a:t>Initialization</a:t>
            </a:r>
            <a:r>
              <a:rPr lang="en-US" sz="2400" dirty="0"/>
              <a:t>: Setting up the loop variable.</a:t>
            </a:r>
          </a:p>
          <a:p>
            <a:pPr>
              <a:buFont typeface="Arial" panose="020B0604020202020204" pitchFamily="34" charset="0"/>
              <a:buChar char="•"/>
            </a:pPr>
            <a:r>
              <a:rPr lang="en-US" sz="2400" b="1" dirty="0"/>
              <a:t>Condition</a:t>
            </a:r>
            <a:r>
              <a:rPr lang="en-US" sz="2400" dirty="0"/>
              <a:t>: The condition that determines if the loop should continue running.</a:t>
            </a:r>
          </a:p>
          <a:p>
            <a:pPr>
              <a:buFont typeface="Arial" panose="020B0604020202020204" pitchFamily="34" charset="0"/>
              <a:buChar char="•"/>
            </a:pPr>
            <a:r>
              <a:rPr lang="en-US" sz="2400" b="1" dirty="0"/>
              <a:t>Increment/Decrement</a:t>
            </a:r>
            <a:r>
              <a:rPr lang="en-US" sz="2400" dirty="0"/>
              <a:t>: Updates the loop variable after each iteration</a:t>
            </a:r>
          </a:p>
          <a:p>
            <a:pPr>
              <a:buFont typeface="Arial" panose="020B0604020202020204" pitchFamily="34" charset="0"/>
              <a:buNone/>
            </a:pPr>
            <a:endParaRPr lang="en-US" altLang="en-US" sz="2400" dirty="0"/>
          </a:p>
        </p:txBody>
      </p:sp>
      <p:pic>
        <p:nvPicPr>
          <p:cNvPr id="1026" name="Picture 2" descr="for Loop in C++ - GeeksforGeeks">
            <a:extLst>
              <a:ext uri="{FF2B5EF4-FFF2-40B4-BE49-F238E27FC236}">
                <a16:creationId xmlns:a16="http://schemas.microsoft.com/office/drawing/2014/main" id="{9B2AE982-ADE9-5221-0E87-250C0D0F3B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35090" y="1047750"/>
            <a:ext cx="4633913" cy="49512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8152F38-045E-7B23-FB94-8F12DAA39DE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49464E3-81EC-5E3A-A052-7379FA2BA5F0}"/>
              </a:ext>
            </a:extLst>
          </p:cNvPr>
          <p:cNvSpPr>
            <a:spLocks noGrp="1"/>
          </p:cNvSpPr>
          <p:nvPr>
            <p:ph type="title" idx="4294967295"/>
          </p:nvPr>
        </p:nvSpPr>
        <p:spPr>
          <a:xfrm>
            <a:off x="1676400" y="763588"/>
            <a:ext cx="10515600" cy="1325562"/>
          </a:xfrm>
          <a:prstGeom prst="rect">
            <a:avLst/>
          </a:prstGeom>
        </p:spPr>
        <p:txBody>
          <a:bodyPr/>
          <a:lstStyle/>
          <a:p>
            <a:r>
              <a:rPr lang="en-US" dirty="0"/>
              <a:t>For loop Cont.…</a:t>
            </a:r>
          </a:p>
        </p:txBody>
      </p:sp>
      <p:sp>
        <p:nvSpPr>
          <p:cNvPr id="6" name="Rectangle 1">
            <a:extLst>
              <a:ext uri="{FF2B5EF4-FFF2-40B4-BE49-F238E27FC236}">
                <a16:creationId xmlns:a16="http://schemas.microsoft.com/office/drawing/2014/main" id="{1C531677-90C8-BF42-2F56-17650C7BF431}"/>
              </a:ext>
            </a:extLst>
          </p:cNvPr>
          <p:cNvSpPr>
            <a:spLocks noGrp="1" noChangeArrowheads="1"/>
          </p:cNvSpPr>
          <p:nvPr>
            <p:ph idx="4294967295"/>
          </p:nvPr>
        </p:nvSpPr>
        <p:spPr bwMode="auto">
          <a:xfrm>
            <a:off x="222068" y="1950538"/>
            <a:ext cx="9028113" cy="46815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rtlCol="0" anchor="ctr" anchorCtr="0" compatLnSpc="1">
            <a:prstTxWarp prst="textNoShape">
              <a:avLst/>
            </a:prstTxWarp>
            <a:spAutoFit/>
          </a:bodyPr>
          <a:lstStyle/>
          <a:p>
            <a:pPr marL="0" lvl="0" indent="0">
              <a:buNone/>
            </a:pPr>
            <a:endParaRPr lang="en-US" altLang="en-US" sz="2400" dirty="0"/>
          </a:p>
          <a:p>
            <a:pPr lvl="0"/>
            <a:r>
              <a:rPr lang="en-US" altLang="en-US" sz="2400" dirty="0"/>
              <a:t>Initialization: This part initializes the loop variable. It typically declares and assigns an initial value to the loop variable. For example, int </a:t>
            </a:r>
            <a:r>
              <a:rPr lang="en-US" altLang="en-US" sz="2400" dirty="0" err="1"/>
              <a:t>i</a:t>
            </a:r>
            <a:r>
              <a:rPr lang="en-US" altLang="en-US" sz="2400" dirty="0"/>
              <a:t> = 0;.</a:t>
            </a:r>
          </a:p>
          <a:p>
            <a:pPr lvl="0"/>
            <a:r>
              <a:rPr lang="en-US" altLang="en-US" sz="2400" dirty="0"/>
              <a:t>Condition: This part specifies the condition that is checked before each iteration of the loop. If the condition evaluates to true, the loop body is executed; otherwise, the loop terminates. For example, </a:t>
            </a:r>
            <a:r>
              <a:rPr lang="en-US" altLang="en-US" sz="2400" dirty="0" err="1"/>
              <a:t>i</a:t>
            </a:r>
            <a:r>
              <a:rPr lang="en-US" altLang="en-US" sz="2400" dirty="0"/>
              <a:t> &lt; 5.</a:t>
            </a:r>
          </a:p>
          <a:p>
            <a:pPr lvl="0"/>
            <a:r>
              <a:rPr lang="en-US" altLang="en-US" sz="2400" dirty="0"/>
              <a:t>Update: This part is responsible for updating the loop variable after each iteration of the loop body. It can be an increment (</a:t>
            </a:r>
            <a:r>
              <a:rPr lang="en-US" altLang="en-US" sz="2400" dirty="0" err="1"/>
              <a:t>i</a:t>
            </a:r>
            <a:r>
              <a:rPr lang="en-US" altLang="en-US" sz="2400" dirty="0"/>
              <a:t>++), decrement (</a:t>
            </a:r>
            <a:r>
              <a:rPr lang="en-US" altLang="en-US" sz="2400" dirty="0" err="1"/>
              <a:t>i</a:t>
            </a:r>
            <a:r>
              <a:rPr lang="en-US" altLang="en-US" sz="2400" dirty="0"/>
              <a:t>--), or any other operation that modifies the loop variable. For example, </a:t>
            </a:r>
            <a:r>
              <a:rPr lang="en-US" altLang="en-US" sz="2400" dirty="0" err="1"/>
              <a:t>i</a:t>
            </a:r>
            <a:r>
              <a:rPr lang="en-US" altLang="en-US" sz="2400" dirty="0"/>
              <a:t>++.</a:t>
            </a:r>
          </a:p>
          <a:p>
            <a:pPr lvl="0"/>
            <a:endParaRPr lang="en-US" altLang="en-US" sz="3200" dirty="0"/>
          </a:p>
        </p:txBody>
      </p:sp>
    </p:spTree>
    <p:extLst>
      <p:ext uri="{BB962C8B-B14F-4D97-AF65-F5344CB8AC3E}">
        <p14:creationId xmlns:p14="http://schemas.microsoft.com/office/powerpoint/2010/main" val="13634280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54DE7-F22A-01D9-AC3A-0030EB34ACCD}"/>
              </a:ext>
            </a:extLst>
          </p:cNvPr>
          <p:cNvSpPr>
            <a:spLocks noGrp="1"/>
          </p:cNvSpPr>
          <p:nvPr>
            <p:ph type="title" idx="4294967295"/>
          </p:nvPr>
        </p:nvSpPr>
        <p:spPr>
          <a:xfrm>
            <a:off x="1676400" y="763588"/>
            <a:ext cx="10515600" cy="1325562"/>
          </a:xfrm>
          <a:prstGeom prst="rect">
            <a:avLst/>
          </a:prstGeom>
        </p:spPr>
        <p:txBody>
          <a:bodyPr/>
          <a:lstStyle/>
          <a:p>
            <a:r>
              <a:rPr lang="en-US" dirty="0"/>
              <a:t>For loop Cont...</a:t>
            </a:r>
          </a:p>
        </p:txBody>
      </p:sp>
      <p:sp>
        <p:nvSpPr>
          <p:cNvPr id="3" name="Content Placeholder 2">
            <a:extLst>
              <a:ext uri="{FF2B5EF4-FFF2-40B4-BE49-F238E27FC236}">
                <a16:creationId xmlns:a16="http://schemas.microsoft.com/office/drawing/2014/main" id="{98B8771D-1844-F6F8-8DC8-DF052738AB0C}"/>
              </a:ext>
            </a:extLst>
          </p:cNvPr>
          <p:cNvSpPr>
            <a:spLocks noGrp="1"/>
          </p:cNvSpPr>
          <p:nvPr>
            <p:ph idx="4294967295"/>
          </p:nvPr>
        </p:nvSpPr>
        <p:spPr>
          <a:xfrm>
            <a:off x="1676400" y="1928813"/>
            <a:ext cx="10515600" cy="4351337"/>
          </a:xfrm>
          <a:prstGeom prst="rect">
            <a:avLst/>
          </a:prstGeom>
        </p:spPr>
        <p:txBody>
          <a:bodyPr>
            <a:normAutofit fontScale="77500" lnSpcReduction="20000"/>
          </a:bodyPr>
          <a:lstStyle/>
          <a:p>
            <a:r>
              <a:rPr lang="en-US" dirty="0"/>
              <a:t>Syntax:</a:t>
            </a:r>
          </a:p>
          <a:p>
            <a:pPr marL="0" indent="0">
              <a:buNone/>
            </a:pPr>
            <a:r>
              <a:rPr lang="en-US" dirty="0"/>
              <a:t>for (initialization; condition; increment/decrement) { // Code to execute repeatedly }</a:t>
            </a:r>
          </a:p>
          <a:p>
            <a:r>
              <a:rPr lang="en-US" dirty="0"/>
              <a:t>Example:</a:t>
            </a:r>
          </a:p>
          <a:p>
            <a:pPr marL="0" indent="0">
              <a:buNone/>
            </a:pPr>
            <a:r>
              <a:rPr lang="en-US" dirty="0"/>
              <a:t>#include &lt;iostream&gt;</a:t>
            </a:r>
          </a:p>
          <a:p>
            <a:pPr marL="0" indent="0">
              <a:buNone/>
            </a:pPr>
            <a:r>
              <a:rPr lang="en-US" dirty="0"/>
              <a:t> using namespace std; </a:t>
            </a:r>
          </a:p>
          <a:p>
            <a:pPr marL="0" indent="0">
              <a:buNone/>
            </a:pPr>
            <a:r>
              <a:rPr lang="en-US" dirty="0"/>
              <a:t>int main() { // This for loop will print numbers from 1 to 5 </a:t>
            </a:r>
          </a:p>
          <a:p>
            <a:pPr marL="0" indent="0">
              <a:buNone/>
            </a:pPr>
            <a:r>
              <a:rPr lang="en-US" dirty="0"/>
              <a:t>for (int </a:t>
            </a:r>
            <a:r>
              <a:rPr lang="en-US" dirty="0" err="1"/>
              <a:t>i</a:t>
            </a:r>
            <a:r>
              <a:rPr lang="en-US" dirty="0"/>
              <a:t> = 1; </a:t>
            </a:r>
            <a:r>
              <a:rPr lang="en-US" dirty="0" err="1"/>
              <a:t>i</a:t>
            </a:r>
            <a:r>
              <a:rPr lang="en-US" dirty="0"/>
              <a:t> &lt;= 5; </a:t>
            </a:r>
            <a:r>
              <a:rPr lang="en-US" dirty="0" err="1"/>
              <a:t>i</a:t>
            </a:r>
            <a:r>
              <a:rPr lang="en-US" dirty="0"/>
              <a:t>++) { </a:t>
            </a:r>
          </a:p>
          <a:p>
            <a:pPr marL="0" indent="0">
              <a:buNone/>
            </a:pPr>
            <a:r>
              <a:rPr lang="en-US" dirty="0" err="1"/>
              <a:t>cout</a:t>
            </a:r>
            <a:r>
              <a:rPr lang="en-US" dirty="0"/>
              <a:t> &lt;&lt; </a:t>
            </a:r>
            <a:r>
              <a:rPr lang="en-US" dirty="0" err="1"/>
              <a:t>i</a:t>
            </a:r>
            <a:r>
              <a:rPr lang="en-US" dirty="0"/>
              <a:t> &lt;&lt; " ";</a:t>
            </a:r>
          </a:p>
          <a:p>
            <a:pPr marL="0" indent="0">
              <a:buNone/>
            </a:pPr>
            <a:r>
              <a:rPr lang="en-US" dirty="0"/>
              <a:t> } </a:t>
            </a:r>
          </a:p>
          <a:p>
            <a:pPr marL="0" indent="0">
              <a:buNone/>
            </a:pPr>
            <a:r>
              <a:rPr lang="en-US" dirty="0"/>
              <a:t>return 0;</a:t>
            </a:r>
          </a:p>
          <a:p>
            <a:pPr marL="0" indent="0">
              <a:buNone/>
            </a:pPr>
            <a:r>
              <a:rPr lang="en-US" dirty="0"/>
              <a:t> }</a:t>
            </a:r>
          </a:p>
        </p:txBody>
      </p:sp>
    </p:spTree>
    <p:extLst>
      <p:ext uri="{BB962C8B-B14F-4D97-AF65-F5344CB8AC3E}">
        <p14:creationId xmlns:p14="http://schemas.microsoft.com/office/powerpoint/2010/main" val="19224201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CCB89-C001-6FF2-6A80-820889C4C38B}"/>
              </a:ext>
            </a:extLst>
          </p:cNvPr>
          <p:cNvSpPr>
            <a:spLocks noGrp="1"/>
          </p:cNvSpPr>
          <p:nvPr>
            <p:ph type="title" idx="4294967295"/>
          </p:nvPr>
        </p:nvSpPr>
        <p:spPr>
          <a:xfrm>
            <a:off x="1676400" y="763588"/>
            <a:ext cx="10515600" cy="1325562"/>
          </a:xfrm>
          <a:prstGeom prst="rect">
            <a:avLst/>
          </a:prstGeom>
        </p:spPr>
        <p:txBody>
          <a:bodyPr/>
          <a:lstStyle/>
          <a:p>
            <a:r>
              <a:rPr lang="en-US" dirty="0"/>
              <a:t>While Loop</a:t>
            </a:r>
          </a:p>
        </p:txBody>
      </p:sp>
      <p:sp>
        <p:nvSpPr>
          <p:cNvPr id="3" name="Content Placeholder 2">
            <a:extLst>
              <a:ext uri="{FF2B5EF4-FFF2-40B4-BE49-F238E27FC236}">
                <a16:creationId xmlns:a16="http://schemas.microsoft.com/office/drawing/2014/main" id="{57BBC84D-B7BA-8EB0-D3EA-C77E253465C2}"/>
              </a:ext>
            </a:extLst>
          </p:cNvPr>
          <p:cNvSpPr>
            <a:spLocks noGrp="1"/>
          </p:cNvSpPr>
          <p:nvPr>
            <p:ph idx="4294967295"/>
          </p:nvPr>
        </p:nvSpPr>
        <p:spPr>
          <a:xfrm>
            <a:off x="0" y="1825625"/>
            <a:ext cx="6726238" cy="4351338"/>
          </a:xfrm>
          <a:prstGeom prst="rect">
            <a:avLst/>
          </a:prstGeom>
        </p:spPr>
        <p:txBody>
          <a:bodyPr/>
          <a:lstStyle/>
          <a:p>
            <a:r>
              <a:rPr lang="en-US" dirty="0"/>
              <a:t>The </a:t>
            </a:r>
            <a:r>
              <a:rPr lang="en-US" b="1" dirty="0"/>
              <a:t>while loop</a:t>
            </a:r>
            <a:r>
              <a:rPr lang="en-US" dirty="0"/>
              <a:t> is used when the number of iterations is not known, and you want the loop to run as long as a certain condition is true. It checks the condition before entering the loop.</a:t>
            </a:r>
          </a:p>
          <a:p>
            <a:r>
              <a:rPr lang="en-US" dirty="0"/>
              <a:t>Syntax:</a:t>
            </a:r>
          </a:p>
          <a:p>
            <a:pPr marL="0" indent="0">
              <a:buNone/>
            </a:pPr>
            <a:r>
              <a:rPr lang="en-US" dirty="0"/>
              <a:t>while (condition) {</a:t>
            </a:r>
          </a:p>
          <a:p>
            <a:pPr marL="0" indent="0">
              <a:buNone/>
            </a:pPr>
            <a:r>
              <a:rPr lang="en-US" dirty="0"/>
              <a:t>// Code to execute repeatedly </a:t>
            </a:r>
          </a:p>
          <a:p>
            <a:pPr marL="0" indent="0">
              <a:buNone/>
            </a:pPr>
            <a:r>
              <a:rPr lang="en-US" dirty="0"/>
              <a:t>}</a:t>
            </a:r>
          </a:p>
        </p:txBody>
      </p:sp>
      <p:pic>
        <p:nvPicPr>
          <p:cNvPr id="2050" name="Picture 2" descr="C++ While Loop - GeeksforGeeks">
            <a:extLst>
              <a:ext uri="{FF2B5EF4-FFF2-40B4-BE49-F238E27FC236}">
                <a16:creationId xmlns:a16="http://schemas.microsoft.com/office/drawing/2014/main" id="{83E4F609-A0AF-D4C8-D83D-49CD9E13DF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6982" y="1283855"/>
            <a:ext cx="4369507" cy="52090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22220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F99C2561-8C2F-BD15-AED4-181AB5082AA3}"/>
              </a:ext>
            </a:extLst>
          </p:cNvPr>
          <p:cNvSpPr>
            <a:spLocks noGrp="1"/>
          </p:cNvSpPr>
          <p:nvPr>
            <p:ph type="title" idx="4294967295"/>
          </p:nvPr>
        </p:nvSpPr>
        <p:spPr>
          <a:xfrm>
            <a:off x="1676400" y="763588"/>
            <a:ext cx="10515600" cy="1325562"/>
          </a:xfrm>
          <a:prstGeom prst="rect">
            <a:avLst/>
          </a:prstGeom>
        </p:spPr>
        <p:txBody>
          <a:bodyPr/>
          <a:lstStyle/>
          <a:p>
            <a:r>
              <a:rPr lang="en-US" altLang="en-US"/>
              <a:t>While Loop Example</a:t>
            </a:r>
          </a:p>
        </p:txBody>
      </p:sp>
      <p:sp>
        <p:nvSpPr>
          <p:cNvPr id="57347" name="Content Placeholder 2">
            <a:extLst>
              <a:ext uri="{FF2B5EF4-FFF2-40B4-BE49-F238E27FC236}">
                <a16:creationId xmlns:a16="http://schemas.microsoft.com/office/drawing/2014/main" id="{670DF8FD-12E3-4654-0BCC-7734A5586349}"/>
              </a:ext>
            </a:extLst>
          </p:cNvPr>
          <p:cNvSpPr>
            <a:spLocks noGrp="1"/>
          </p:cNvSpPr>
          <p:nvPr>
            <p:ph idx="4294967295"/>
          </p:nvPr>
        </p:nvSpPr>
        <p:spPr>
          <a:xfrm>
            <a:off x="1676400" y="1928813"/>
            <a:ext cx="10515600" cy="4351337"/>
          </a:xfrm>
          <a:prstGeom prst="rect">
            <a:avLst/>
          </a:prstGeom>
        </p:spPr>
        <p:txBody>
          <a:bodyPr/>
          <a:lstStyle/>
          <a:p>
            <a:pPr>
              <a:buFont typeface="Monotype Sorts" pitchFamily="2" charset="2"/>
              <a:buNone/>
            </a:pPr>
            <a:r>
              <a:rPr lang="en-US" altLang="en-US" sz="2400" dirty="0"/>
              <a:t>int   count ;</a:t>
            </a:r>
          </a:p>
          <a:p>
            <a:pPr>
              <a:buFont typeface="Monotype Sorts" pitchFamily="2" charset="2"/>
              <a:buNone/>
            </a:pPr>
            <a:r>
              <a:rPr lang="en-US" altLang="en-US" sz="2400" dirty="0"/>
              <a:t>count  =  0;				 </a:t>
            </a:r>
            <a:r>
              <a:rPr lang="en-US" altLang="en-US" sz="2400" i="1" dirty="0">
                <a:solidFill>
                  <a:srgbClr val="663300"/>
                </a:solidFill>
              </a:rPr>
              <a:t>// initialize </a:t>
            </a:r>
          </a:p>
          <a:p>
            <a:pPr>
              <a:buFont typeface="Monotype Sorts" pitchFamily="2" charset="2"/>
              <a:buNone/>
            </a:pPr>
            <a:r>
              <a:rPr lang="en-US" altLang="en-US" sz="2400" dirty="0"/>
              <a:t>while (count &lt; 5)			 </a:t>
            </a:r>
            <a:r>
              <a:rPr lang="en-US" altLang="en-US" sz="2400" i="1" dirty="0">
                <a:solidFill>
                  <a:srgbClr val="0000CC"/>
                </a:solidFill>
              </a:rPr>
              <a:t>// test expression</a:t>
            </a:r>
            <a:endParaRPr lang="en-US" altLang="en-US" sz="2400" i="1" dirty="0"/>
          </a:p>
          <a:p>
            <a:pPr>
              <a:buFont typeface="Monotype Sorts" pitchFamily="2" charset="2"/>
              <a:buNone/>
            </a:pPr>
            <a:r>
              <a:rPr lang="en-US" altLang="en-US" sz="2400" dirty="0"/>
              <a:t>{</a:t>
            </a:r>
          </a:p>
          <a:p>
            <a:pPr>
              <a:buFont typeface="Monotype Sorts" pitchFamily="2" charset="2"/>
              <a:buNone/>
            </a:pPr>
            <a:r>
              <a:rPr lang="en-US" altLang="en-US" sz="2400" dirty="0"/>
              <a:t>		</a:t>
            </a:r>
            <a:r>
              <a:rPr lang="en-US" altLang="en-US" sz="2400" dirty="0" err="1"/>
              <a:t>cout</a:t>
            </a:r>
            <a:r>
              <a:rPr lang="en-US" altLang="en-US" sz="2400" dirty="0"/>
              <a:t>  &lt;&lt; count  &lt;&lt; “ ”;	 	</a:t>
            </a:r>
            <a:r>
              <a:rPr lang="en-US" altLang="en-US" sz="2400" i="1" dirty="0"/>
              <a:t>// repeated action</a:t>
            </a:r>
            <a:endParaRPr lang="en-US" altLang="en-US" sz="2400" dirty="0"/>
          </a:p>
          <a:p>
            <a:pPr>
              <a:buFont typeface="Monotype Sorts" pitchFamily="2" charset="2"/>
              <a:buNone/>
            </a:pPr>
            <a:r>
              <a:rPr lang="en-US" altLang="en-US" sz="2400" dirty="0"/>
              <a:t>		count </a:t>
            </a:r>
            <a:r>
              <a:rPr lang="en-US" altLang="en-US" sz="2400" dirty="0">
                <a:latin typeface="Courier New" panose="02070309020205020404" pitchFamily="49" charset="0"/>
              </a:rPr>
              <a:t>= </a:t>
            </a:r>
            <a:r>
              <a:rPr lang="en-US" altLang="en-US" sz="2400" dirty="0"/>
              <a:t>count + 1;</a:t>
            </a:r>
            <a:r>
              <a:rPr lang="en-US" altLang="en-US" sz="2400" dirty="0">
                <a:solidFill>
                  <a:srgbClr val="BC3700"/>
                </a:solidFill>
              </a:rPr>
              <a:t>		 </a:t>
            </a:r>
            <a:r>
              <a:rPr lang="en-US" altLang="en-US" sz="2400" i="1" dirty="0">
                <a:solidFill>
                  <a:srgbClr val="BC3700"/>
                </a:solidFill>
              </a:rPr>
              <a:t>// update</a:t>
            </a:r>
          </a:p>
          <a:p>
            <a:pPr>
              <a:buFont typeface="Monotype Sorts" pitchFamily="2" charset="2"/>
              <a:buNone/>
            </a:pPr>
            <a:r>
              <a:rPr lang="en-US" altLang="en-US" sz="2400" dirty="0"/>
              <a:t>}</a:t>
            </a:r>
          </a:p>
          <a:p>
            <a:pPr>
              <a:buFont typeface="Monotype Sorts" pitchFamily="2" charset="2"/>
              <a:buNone/>
            </a:pPr>
            <a:r>
              <a:rPr lang="en-US" altLang="en-US" sz="2400" dirty="0" err="1"/>
              <a:t>cout</a:t>
            </a:r>
            <a:r>
              <a:rPr lang="en-US" altLang="en-US" sz="2400" dirty="0"/>
              <a:t>  &lt;&lt; “Done” &lt;&lt; </a:t>
            </a:r>
            <a:r>
              <a:rPr lang="en-US" altLang="en-US" sz="2400" dirty="0" err="1"/>
              <a:t>endl</a:t>
            </a:r>
            <a:r>
              <a:rPr lang="en-US" altLang="en-US" sz="2400" dirty="0"/>
              <a:t> ;</a:t>
            </a:r>
          </a:p>
          <a:p>
            <a:endParaRPr lang="en-US" altLang="en-US" sz="24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A712C327-59E0-9F9C-D82F-80B406D89A1A}"/>
              </a:ext>
            </a:extLst>
          </p:cNvPr>
          <p:cNvSpPr>
            <a:spLocks noGrp="1"/>
          </p:cNvSpPr>
          <p:nvPr>
            <p:ph type="title" idx="4294967295"/>
          </p:nvPr>
        </p:nvSpPr>
        <p:spPr>
          <a:xfrm>
            <a:off x="1676400" y="763588"/>
            <a:ext cx="10515600" cy="1325562"/>
          </a:xfrm>
          <a:prstGeom prst="rect">
            <a:avLst/>
          </a:prstGeom>
        </p:spPr>
        <p:txBody>
          <a:bodyPr/>
          <a:lstStyle/>
          <a:p>
            <a:r>
              <a:rPr lang="en-US" altLang="en-US"/>
              <a:t>Loop Tracing</a:t>
            </a:r>
          </a:p>
        </p:txBody>
      </p:sp>
      <p:sp>
        <p:nvSpPr>
          <p:cNvPr id="58371" name="Content Placeholder 2">
            <a:extLst>
              <a:ext uri="{FF2B5EF4-FFF2-40B4-BE49-F238E27FC236}">
                <a16:creationId xmlns:a16="http://schemas.microsoft.com/office/drawing/2014/main" id="{C056FD98-7A75-7691-FDAF-A46D29ECB8E8}"/>
              </a:ext>
            </a:extLst>
          </p:cNvPr>
          <p:cNvSpPr>
            <a:spLocks noGrp="1"/>
          </p:cNvSpPr>
          <p:nvPr>
            <p:ph idx="4294967295"/>
          </p:nvPr>
        </p:nvSpPr>
        <p:spPr>
          <a:xfrm>
            <a:off x="0" y="1752600"/>
            <a:ext cx="3505200" cy="4038600"/>
          </a:xfrm>
          <a:prstGeom prst="rect">
            <a:avLst/>
          </a:prstGeom>
        </p:spPr>
        <p:txBody>
          <a:bodyPr/>
          <a:lstStyle/>
          <a:p>
            <a:pPr>
              <a:buFont typeface="Monotype Sorts" pitchFamily="2" charset="2"/>
              <a:buNone/>
            </a:pPr>
            <a:r>
              <a:rPr lang="en-US" altLang="en-US" sz="2400" dirty="0"/>
              <a:t>int   count ;</a:t>
            </a:r>
          </a:p>
          <a:p>
            <a:pPr>
              <a:buFont typeface="Monotype Sorts" pitchFamily="2" charset="2"/>
              <a:buNone/>
            </a:pPr>
            <a:r>
              <a:rPr lang="en-US" altLang="en-US" sz="2400" dirty="0"/>
              <a:t>count  =  0;</a:t>
            </a:r>
            <a:endParaRPr lang="en-US" altLang="en-US" sz="2400" i="1" dirty="0"/>
          </a:p>
          <a:p>
            <a:pPr>
              <a:buFont typeface="Monotype Sorts" pitchFamily="2" charset="2"/>
              <a:buNone/>
            </a:pPr>
            <a:r>
              <a:rPr lang="en-US" altLang="en-US" sz="2400" dirty="0"/>
              <a:t>while (count &lt; 5)</a:t>
            </a:r>
            <a:endParaRPr lang="en-US" altLang="en-US" sz="2400" i="1" dirty="0"/>
          </a:p>
          <a:p>
            <a:pPr>
              <a:buFont typeface="Monotype Sorts" pitchFamily="2" charset="2"/>
              <a:buNone/>
            </a:pPr>
            <a:r>
              <a:rPr lang="en-US" altLang="en-US" sz="2400" dirty="0"/>
              <a:t>{</a:t>
            </a:r>
          </a:p>
          <a:p>
            <a:pPr>
              <a:buFont typeface="Monotype Sorts" pitchFamily="2" charset="2"/>
              <a:buNone/>
            </a:pPr>
            <a:r>
              <a:rPr lang="en-US" altLang="en-US" sz="2400" dirty="0"/>
              <a:t>	</a:t>
            </a:r>
            <a:r>
              <a:rPr lang="en-US" altLang="en-US" sz="2400" dirty="0" err="1"/>
              <a:t>cout</a:t>
            </a:r>
            <a:r>
              <a:rPr lang="en-US" altLang="en-US" sz="2400" dirty="0"/>
              <a:t>  &lt;&lt; count  &lt;&lt; “ ”;</a:t>
            </a:r>
          </a:p>
          <a:p>
            <a:pPr>
              <a:buFont typeface="Monotype Sorts" pitchFamily="2" charset="2"/>
              <a:buNone/>
            </a:pPr>
            <a:r>
              <a:rPr lang="en-US" altLang="en-US" sz="2400" dirty="0"/>
              <a:t>	count </a:t>
            </a:r>
            <a:r>
              <a:rPr lang="en-US" altLang="en-US" sz="2400" dirty="0">
                <a:latin typeface="Courier New" panose="02070309020205020404" pitchFamily="49" charset="0"/>
              </a:rPr>
              <a:t>= </a:t>
            </a:r>
            <a:r>
              <a:rPr lang="en-US" altLang="en-US" sz="2400" dirty="0"/>
              <a:t>count + 1;</a:t>
            </a:r>
          </a:p>
          <a:p>
            <a:pPr>
              <a:buFont typeface="Monotype Sorts" pitchFamily="2" charset="2"/>
              <a:buNone/>
            </a:pPr>
            <a:r>
              <a:rPr lang="en-US" altLang="en-US" sz="2400" dirty="0"/>
              <a:t>}</a:t>
            </a:r>
          </a:p>
          <a:p>
            <a:pPr>
              <a:buFont typeface="Monotype Sorts" pitchFamily="2" charset="2"/>
              <a:buNone/>
            </a:pPr>
            <a:r>
              <a:rPr lang="en-US" altLang="en-US" sz="2400" dirty="0" err="1"/>
              <a:t>cout</a:t>
            </a:r>
            <a:r>
              <a:rPr lang="en-US" altLang="en-US" sz="2400" dirty="0"/>
              <a:t>  &lt;&lt; “Done” &lt;&lt; </a:t>
            </a:r>
            <a:r>
              <a:rPr lang="en-US" altLang="en-US" sz="2400" dirty="0" err="1"/>
              <a:t>endl</a:t>
            </a:r>
            <a:r>
              <a:rPr lang="en-US" altLang="en-US" sz="2400" dirty="0"/>
              <a:t> ;</a:t>
            </a:r>
          </a:p>
          <a:p>
            <a:endParaRPr lang="en-US" altLang="en-US" sz="2400" dirty="0"/>
          </a:p>
        </p:txBody>
      </p:sp>
      <p:sp>
        <p:nvSpPr>
          <p:cNvPr id="58372" name="TextBox 5">
            <a:extLst>
              <a:ext uri="{FF2B5EF4-FFF2-40B4-BE49-F238E27FC236}">
                <a16:creationId xmlns:a16="http://schemas.microsoft.com/office/drawing/2014/main" id="{ABB99E31-2024-5D55-7940-0CA6DB168BCE}"/>
              </a:ext>
            </a:extLst>
          </p:cNvPr>
          <p:cNvSpPr txBox="1">
            <a:spLocks noChangeArrowheads="1"/>
          </p:cNvSpPr>
          <p:nvPr/>
        </p:nvSpPr>
        <p:spPr bwMode="auto">
          <a:xfrm>
            <a:off x="6172200" y="1839914"/>
            <a:ext cx="3962400" cy="36988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count  Expression        Output</a:t>
            </a:r>
          </a:p>
        </p:txBody>
      </p:sp>
      <p:sp>
        <p:nvSpPr>
          <p:cNvPr id="58373" name="TextBox 8">
            <a:extLst>
              <a:ext uri="{FF2B5EF4-FFF2-40B4-BE49-F238E27FC236}">
                <a16:creationId xmlns:a16="http://schemas.microsoft.com/office/drawing/2014/main" id="{F114DECB-0B15-002D-4D14-A91E3D567382}"/>
              </a:ext>
            </a:extLst>
          </p:cNvPr>
          <p:cNvSpPr txBox="1">
            <a:spLocks noChangeArrowheads="1"/>
          </p:cNvSpPr>
          <p:nvPr/>
        </p:nvSpPr>
        <p:spPr bwMode="auto">
          <a:xfrm>
            <a:off x="6172200" y="2220913"/>
            <a:ext cx="3962400" cy="381000"/>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0         true                  0</a:t>
            </a:r>
          </a:p>
        </p:txBody>
      </p:sp>
      <p:sp>
        <p:nvSpPr>
          <p:cNvPr id="58374" name="TextBox 13">
            <a:extLst>
              <a:ext uri="{FF2B5EF4-FFF2-40B4-BE49-F238E27FC236}">
                <a16:creationId xmlns:a16="http://schemas.microsoft.com/office/drawing/2014/main" id="{87E0590D-30FE-36EC-1641-7373A2CB1CC7}"/>
              </a:ext>
            </a:extLst>
          </p:cNvPr>
          <p:cNvSpPr txBox="1">
            <a:spLocks noChangeArrowheads="1"/>
          </p:cNvSpPr>
          <p:nvPr/>
        </p:nvSpPr>
        <p:spPr bwMode="auto">
          <a:xfrm>
            <a:off x="6172200" y="2601913"/>
            <a:ext cx="3962400" cy="381000"/>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1         true                  0 1</a:t>
            </a:r>
          </a:p>
        </p:txBody>
      </p:sp>
      <p:sp>
        <p:nvSpPr>
          <p:cNvPr id="58375" name="TextBox 14">
            <a:extLst>
              <a:ext uri="{FF2B5EF4-FFF2-40B4-BE49-F238E27FC236}">
                <a16:creationId xmlns:a16="http://schemas.microsoft.com/office/drawing/2014/main" id="{CF3AA6C9-D095-6343-2D85-50207305D1E1}"/>
              </a:ext>
            </a:extLst>
          </p:cNvPr>
          <p:cNvSpPr txBox="1">
            <a:spLocks noChangeArrowheads="1"/>
          </p:cNvSpPr>
          <p:nvPr/>
        </p:nvSpPr>
        <p:spPr bwMode="auto">
          <a:xfrm>
            <a:off x="6172200" y="2982913"/>
            <a:ext cx="3962400" cy="381000"/>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2         true                  0 1 2</a:t>
            </a:r>
          </a:p>
        </p:txBody>
      </p:sp>
      <p:sp>
        <p:nvSpPr>
          <p:cNvPr id="58376" name="TextBox 16">
            <a:extLst>
              <a:ext uri="{FF2B5EF4-FFF2-40B4-BE49-F238E27FC236}">
                <a16:creationId xmlns:a16="http://schemas.microsoft.com/office/drawing/2014/main" id="{C410A969-1B81-7E55-F4D6-30B43FD429C6}"/>
              </a:ext>
            </a:extLst>
          </p:cNvPr>
          <p:cNvSpPr txBox="1">
            <a:spLocks noChangeArrowheads="1"/>
          </p:cNvSpPr>
          <p:nvPr/>
        </p:nvSpPr>
        <p:spPr bwMode="auto">
          <a:xfrm>
            <a:off x="6172200" y="3363913"/>
            <a:ext cx="3962400" cy="381000"/>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3         true                  0 1 2 3</a:t>
            </a:r>
          </a:p>
        </p:txBody>
      </p:sp>
      <p:sp>
        <p:nvSpPr>
          <p:cNvPr id="58377" name="TextBox 17">
            <a:extLst>
              <a:ext uri="{FF2B5EF4-FFF2-40B4-BE49-F238E27FC236}">
                <a16:creationId xmlns:a16="http://schemas.microsoft.com/office/drawing/2014/main" id="{445102F6-4C66-AA43-AF38-F94ED7F4C99E}"/>
              </a:ext>
            </a:extLst>
          </p:cNvPr>
          <p:cNvSpPr txBox="1">
            <a:spLocks noChangeArrowheads="1"/>
          </p:cNvSpPr>
          <p:nvPr/>
        </p:nvSpPr>
        <p:spPr bwMode="auto">
          <a:xfrm>
            <a:off x="6172200" y="3744913"/>
            <a:ext cx="3962400" cy="381000"/>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4         true                  0 1 2 3 4</a:t>
            </a:r>
          </a:p>
        </p:txBody>
      </p:sp>
      <p:sp>
        <p:nvSpPr>
          <p:cNvPr id="58378" name="TextBox 20">
            <a:extLst>
              <a:ext uri="{FF2B5EF4-FFF2-40B4-BE49-F238E27FC236}">
                <a16:creationId xmlns:a16="http://schemas.microsoft.com/office/drawing/2014/main" id="{2FCAE2AD-192D-F31B-EEB6-0972659E8FCB}"/>
              </a:ext>
            </a:extLst>
          </p:cNvPr>
          <p:cNvSpPr txBox="1">
            <a:spLocks noChangeArrowheads="1"/>
          </p:cNvSpPr>
          <p:nvPr/>
        </p:nvSpPr>
        <p:spPr bwMode="auto">
          <a:xfrm>
            <a:off x="6172200" y="4125913"/>
            <a:ext cx="3962400" cy="366712"/>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5         false                 0 1 2 3 4 Done</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42" name="Title 1">
            <a:extLst>
              <a:ext uri="{FF2B5EF4-FFF2-40B4-BE49-F238E27FC236}">
                <a16:creationId xmlns:a16="http://schemas.microsoft.com/office/drawing/2014/main" id="{69FE3DBF-1763-57C7-28B4-0DC07062CD82}"/>
              </a:ext>
            </a:extLst>
          </p:cNvPr>
          <p:cNvSpPr>
            <a:spLocks noGrp="1"/>
          </p:cNvSpPr>
          <p:nvPr>
            <p:ph type="title" idx="4294967295"/>
          </p:nvPr>
        </p:nvSpPr>
        <p:spPr>
          <a:xfrm>
            <a:off x="1676400" y="763588"/>
            <a:ext cx="10515600" cy="1325562"/>
          </a:xfrm>
          <a:prstGeom prst="rect">
            <a:avLst/>
          </a:prstGeom>
        </p:spPr>
        <p:txBody>
          <a:bodyPr/>
          <a:lstStyle/>
          <a:p>
            <a:r>
              <a:rPr lang="en-US" altLang="en-US"/>
              <a:t>Do-While Loop</a:t>
            </a:r>
          </a:p>
        </p:txBody>
      </p:sp>
      <p:sp>
        <p:nvSpPr>
          <p:cNvPr id="6" name="Content Placeholder 5">
            <a:extLst>
              <a:ext uri="{FF2B5EF4-FFF2-40B4-BE49-F238E27FC236}">
                <a16:creationId xmlns:a16="http://schemas.microsoft.com/office/drawing/2014/main" id="{968DDE95-83BC-95EF-1477-DA6E26A07FC3}"/>
              </a:ext>
            </a:extLst>
          </p:cNvPr>
          <p:cNvSpPr>
            <a:spLocks noGrp="1"/>
          </p:cNvSpPr>
          <p:nvPr>
            <p:ph idx="4294967295"/>
          </p:nvPr>
        </p:nvSpPr>
        <p:spPr>
          <a:xfrm>
            <a:off x="0" y="1825625"/>
            <a:ext cx="5937250" cy="4351338"/>
          </a:xfrm>
          <a:prstGeom prst="rect">
            <a:avLst/>
          </a:prstGeom>
        </p:spPr>
        <p:txBody>
          <a:bodyPr>
            <a:normAutofit fontScale="92500" lnSpcReduction="20000"/>
          </a:bodyPr>
          <a:lstStyle/>
          <a:p>
            <a:r>
              <a:rPr lang="en-US" dirty="0"/>
              <a:t>The do-while loop is similar to the while loop, </a:t>
            </a:r>
          </a:p>
          <a:p>
            <a:r>
              <a:rPr lang="en-US" dirty="0"/>
              <a:t>But it checks the condition after the loop has executed.</a:t>
            </a:r>
          </a:p>
          <a:p>
            <a:r>
              <a:rPr lang="en-US" dirty="0"/>
              <a:t>This guarantees that the loop will always run at least once</a:t>
            </a:r>
          </a:p>
          <a:p>
            <a:r>
              <a:rPr lang="en-US" dirty="0"/>
              <a:t>Syntax:</a:t>
            </a:r>
          </a:p>
          <a:p>
            <a:pPr marL="0" indent="0">
              <a:buNone/>
            </a:pPr>
            <a:r>
              <a:rPr lang="en-US" dirty="0"/>
              <a:t>do {</a:t>
            </a:r>
          </a:p>
          <a:p>
            <a:pPr marL="0" indent="0">
              <a:buNone/>
            </a:pPr>
            <a:r>
              <a:rPr lang="en-US" dirty="0"/>
              <a:t> // Code to execute repeatedly </a:t>
            </a:r>
          </a:p>
          <a:p>
            <a:pPr marL="0" indent="0">
              <a:buNone/>
            </a:pPr>
            <a:r>
              <a:rPr lang="en-US" dirty="0"/>
              <a:t>} </a:t>
            </a:r>
          </a:p>
          <a:p>
            <a:pPr marL="0" indent="0">
              <a:buNone/>
            </a:pPr>
            <a:r>
              <a:rPr lang="en-US" dirty="0"/>
              <a:t>while (condition);</a:t>
            </a:r>
          </a:p>
        </p:txBody>
      </p:sp>
      <p:pic>
        <p:nvPicPr>
          <p:cNvPr id="3079" name="Picture 7" descr="C++ do while Loop - GeeksforGeeks">
            <a:extLst>
              <a:ext uri="{FF2B5EF4-FFF2-40B4-BE49-F238E27FC236}">
                <a16:creationId xmlns:a16="http://schemas.microsoft.com/office/drawing/2014/main" id="{52671563-64FA-6646-3B2E-781BB34014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9488" y="365125"/>
            <a:ext cx="5772150" cy="62293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82FF2-3E9C-69A0-1C8A-B0D6D504D523}"/>
              </a:ext>
            </a:extLst>
          </p:cNvPr>
          <p:cNvSpPr>
            <a:spLocks noGrp="1"/>
          </p:cNvSpPr>
          <p:nvPr>
            <p:ph type="title"/>
          </p:nvPr>
        </p:nvSpPr>
        <p:spPr>
          <a:xfrm>
            <a:off x="1107982" y="297874"/>
            <a:ext cx="7886700" cy="1262061"/>
          </a:xfrm>
        </p:spPr>
        <p:txBody>
          <a:bodyPr>
            <a:normAutofit/>
          </a:bodyPr>
          <a:lstStyle/>
          <a:p>
            <a:r>
              <a:rPr lang="en-US" sz="4400" dirty="0"/>
              <a:t>Do While Example</a:t>
            </a:r>
          </a:p>
        </p:txBody>
      </p:sp>
      <p:sp>
        <p:nvSpPr>
          <p:cNvPr id="3" name="Text Placeholder 2">
            <a:extLst>
              <a:ext uri="{FF2B5EF4-FFF2-40B4-BE49-F238E27FC236}">
                <a16:creationId xmlns:a16="http://schemas.microsoft.com/office/drawing/2014/main" id="{C2C3204F-91F7-7E19-C5F5-D25F51E5AF27}"/>
              </a:ext>
            </a:extLst>
          </p:cNvPr>
          <p:cNvSpPr>
            <a:spLocks noGrp="1"/>
          </p:cNvSpPr>
          <p:nvPr>
            <p:ph type="body" idx="1"/>
          </p:nvPr>
        </p:nvSpPr>
        <p:spPr>
          <a:xfrm>
            <a:off x="1260382" y="1932710"/>
            <a:ext cx="7886700" cy="4184651"/>
          </a:xfrm>
        </p:spPr>
        <p:txBody>
          <a:bodyPr/>
          <a:lstStyle/>
          <a:p>
            <a:r>
              <a:rPr lang="en-US" dirty="0">
                <a:solidFill>
                  <a:schemeClr val="tx1"/>
                </a:solidFill>
              </a:rPr>
              <a:t>#include &lt;iostream&gt; </a:t>
            </a:r>
          </a:p>
          <a:p>
            <a:r>
              <a:rPr lang="en-US" dirty="0">
                <a:solidFill>
                  <a:schemeClr val="tx1"/>
                </a:solidFill>
              </a:rPr>
              <a:t>using namespace std; </a:t>
            </a:r>
          </a:p>
          <a:p>
            <a:r>
              <a:rPr lang="en-US" dirty="0">
                <a:solidFill>
                  <a:schemeClr val="tx1"/>
                </a:solidFill>
              </a:rPr>
              <a:t>int main() { </a:t>
            </a:r>
          </a:p>
          <a:p>
            <a:r>
              <a:rPr lang="en-US" dirty="0">
                <a:solidFill>
                  <a:schemeClr val="tx1"/>
                </a:solidFill>
              </a:rPr>
              <a:t>int </a:t>
            </a:r>
            <a:r>
              <a:rPr lang="en-US" dirty="0" err="1">
                <a:solidFill>
                  <a:schemeClr val="tx1"/>
                </a:solidFill>
              </a:rPr>
              <a:t>i</a:t>
            </a:r>
            <a:r>
              <a:rPr lang="en-US" dirty="0">
                <a:solidFill>
                  <a:schemeClr val="tx1"/>
                </a:solidFill>
              </a:rPr>
              <a:t> = 1; // This do-while loop will print numbers from 1 to 5 do { </a:t>
            </a:r>
          </a:p>
          <a:p>
            <a:r>
              <a:rPr lang="en-US" dirty="0" err="1">
                <a:solidFill>
                  <a:schemeClr val="tx1"/>
                </a:solidFill>
              </a:rPr>
              <a:t>cout</a:t>
            </a:r>
            <a:r>
              <a:rPr lang="en-US" dirty="0">
                <a:solidFill>
                  <a:schemeClr val="tx1"/>
                </a:solidFill>
              </a:rPr>
              <a:t> &lt;&lt; </a:t>
            </a:r>
            <a:r>
              <a:rPr lang="en-US" dirty="0" err="1">
                <a:solidFill>
                  <a:schemeClr val="tx1"/>
                </a:solidFill>
              </a:rPr>
              <a:t>i</a:t>
            </a:r>
            <a:r>
              <a:rPr lang="en-US" dirty="0">
                <a:solidFill>
                  <a:schemeClr val="tx1"/>
                </a:solidFill>
              </a:rPr>
              <a:t> &lt;&lt; " "; </a:t>
            </a:r>
            <a:r>
              <a:rPr lang="en-US" dirty="0" err="1">
                <a:solidFill>
                  <a:schemeClr val="tx1"/>
                </a:solidFill>
              </a:rPr>
              <a:t>i</a:t>
            </a:r>
            <a:r>
              <a:rPr lang="en-US" dirty="0">
                <a:solidFill>
                  <a:schemeClr val="tx1"/>
                </a:solidFill>
              </a:rPr>
              <a:t>++; // Increment the value of I</a:t>
            </a:r>
          </a:p>
          <a:p>
            <a:r>
              <a:rPr lang="en-US" dirty="0">
                <a:solidFill>
                  <a:schemeClr val="tx1"/>
                </a:solidFill>
              </a:rPr>
              <a:t> } </a:t>
            </a:r>
          </a:p>
          <a:p>
            <a:r>
              <a:rPr lang="en-US" dirty="0">
                <a:solidFill>
                  <a:schemeClr val="tx1"/>
                </a:solidFill>
              </a:rPr>
              <a:t>while (</a:t>
            </a:r>
            <a:r>
              <a:rPr lang="en-US" dirty="0" err="1">
                <a:solidFill>
                  <a:schemeClr val="tx1"/>
                </a:solidFill>
              </a:rPr>
              <a:t>i</a:t>
            </a:r>
            <a:r>
              <a:rPr lang="en-US" dirty="0">
                <a:solidFill>
                  <a:schemeClr val="tx1"/>
                </a:solidFill>
              </a:rPr>
              <a:t> &lt;= 5); return 0;</a:t>
            </a:r>
          </a:p>
          <a:p>
            <a:r>
              <a:rPr lang="en-US" dirty="0">
                <a:solidFill>
                  <a:schemeClr val="tx1"/>
                </a:solidFill>
              </a:rPr>
              <a:t> }</a:t>
            </a:r>
          </a:p>
        </p:txBody>
      </p:sp>
    </p:spTree>
    <p:extLst>
      <p:ext uri="{BB962C8B-B14F-4D97-AF65-F5344CB8AC3E}">
        <p14:creationId xmlns:p14="http://schemas.microsoft.com/office/powerpoint/2010/main" val="133668382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3BA61-43B6-C4DF-28D6-36CD82EF414A}"/>
              </a:ext>
            </a:extLst>
          </p:cNvPr>
          <p:cNvSpPr>
            <a:spLocks noGrp="1"/>
          </p:cNvSpPr>
          <p:nvPr>
            <p:ph type="title" idx="4294967295"/>
          </p:nvPr>
        </p:nvSpPr>
        <p:spPr>
          <a:xfrm>
            <a:off x="0" y="365125"/>
            <a:ext cx="7886700" cy="1325563"/>
          </a:xfrm>
          <a:prstGeom prst="rect">
            <a:avLst/>
          </a:prstGeom>
        </p:spPr>
        <p:txBody>
          <a:bodyPr/>
          <a:lstStyle/>
          <a:p>
            <a:r>
              <a:rPr lang="en-US" dirty="0"/>
              <a:t>Example </a:t>
            </a:r>
          </a:p>
        </p:txBody>
      </p:sp>
      <p:sp>
        <p:nvSpPr>
          <p:cNvPr id="3" name="Content Placeholder 2">
            <a:extLst>
              <a:ext uri="{FF2B5EF4-FFF2-40B4-BE49-F238E27FC236}">
                <a16:creationId xmlns:a16="http://schemas.microsoft.com/office/drawing/2014/main" id="{F9CDE126-DE3A-C5BB-0DF9-73661B4A2A04}"/>
              </a:ext>
            </a:extLst>
          </p:cNvPr>
          <p:cNvSpPr>
            <a:spLocks noGrp="1"/>
          </p:cNvSpPr>
          <p:nvPr>
            <p:ph idx="4294967295"/>
          </p:nvPr>
        </p:nvSpPr>
        <p:spPr>
          <a:xfrm>
            <a:off x="0" y="1825625"/>
            <a:ext cx="7886700" cy="4351338"/>
          </a:xfrm>
          <a:prstGeom prst="rect">
            <a:avLst/>
          </a:prstGeom>
        </p:spPr>
        <p:txBody>
          <a:bodyPr>
            <a:normAutofit fontScale="92500" lnSpcReduction="20000"/>
          </a:bodyPr>
          <a:lstStyle/>
          <a:p>
            <a:pPr marL="0" indent="0">
              <a:buNone/>
            </a:pPr>
            <a:r>
              <a:rPr lang="en-US" dirty="0"/>
              <a:t>#include &lt;iostream&gt;</a:t>
            </a:r>
          </a:p>
          <a:p>
            <a:pPr marL="0" indent="0">
              <a:buNone/>
            </a:pPr>
            <a:r>
              <a:rPr lang="en-US" dirty="0"/>
              <a:t>Using namespace std;</a:t>
            </a:r>
          </a:p>
          <a:p>
            <a:endParaRPr lang="en-US" dirty="0"/>
          </a:p>
          <a:p>
            <a:pPr marL="0" indent="0">
              <a:buNone/>
            </a:pPr>
            <a:r>
              <a:rPr lang="en-US" dirty="0"/>
              <a:t> int main() </a:t>
            </a:r>
          </a:p>
          <a:p>
            <a:pPr marL="0" indent="0">
              <a:buNone/>
            </a:pPr>
            <a:r>
              <a:rPr lang="en-US" dirty="0"/>
              <a:t>{ for (int </a:t>
            </a:r>
            <a:r>
              <a:rPr lang="en-US" dirty="0" err="1"/>
              <a:t>i</a:t>
            </a:r>
            <a:r>
              <a:rPr lang="en-US" dirty="0"/>
              <a:t> = 0; </a:t>
            </a:r>
            <a:r>
              <a:rPr lang="en-US" dirty="0" err="1"/>
              <a:t>i</a:t>
            </a:r>
            <a:r>
              <a:rPr lang="en-US" dirty="0"/>
              <a:t> &lt; 5; </a:t>
            </a:r>
            <a:r>
              <a:rPr lang="en-US" dirty="0" err="1"/>
              <a:t>i</a:t>
            </a:r>
            <a:r>
              <a:rPr lang="en-US" dirty="0"/>
              <a:t>++)</a:t>
            </a:r>
          </a:p>
          <a:p>
            <a:pPr marL="0" indent="0">
              <a:buNone/>
            </a:pPr>
            <a:r>
              <a:rPr lang="en-US" dirty="0"/>
              <a:t> { </a:t>
            </a:r>
          </a:p>
          <a:p>
            <a:pPr marL="0" indent="0">
              <a:buNone/>
            </a:pPr>
            <a:r>
              <a:rPr lang="en-US" dirty="0" err="1"/>
              <a:t>cout</a:t>
            </a:r>
            <a:r>
              <a:rPr lang="en-US" dirty="0"/>
              <a:t> &lt;&lt; "Iteration " &lt;&lt; </a:t>
            </a:r>
            <a:r>
              <a:rPr lang="en-US" dirty="0" err="1"/>
              <a:t>i</a:t>
            </a:r>
            <a:r>
              <a:rPr lang="en-US" dirty="0"/>
              <a:t> &lt;&lt; </a:t>
            </a:r>
            <a:r>
              <a:rPr lang="en-US" dirty="0" err="1"/>
              <a:t>endl</a:t>
            </a:r>
            <a:r>
              <a:rPr lang="en-US" dirty="0"/>
              <a:t>;</a:t>
            </a:r>
          </a:p>
          <a:p>
            <a:pPr marL="0" indent="0">
              <a:buNone/>
            </a:pPr>
            <a:r>
              <a:rPr lang="en-US" dirty="0"/>
              <a:t> }</a:t>
            </a:r>
          </a:p>
          <a:p>
            <a:pPr marL="0" indent="0">
              <a:buNone/>
            </a:pPr>
            <a:r>
              <a:rPr lang="en-US" dirty="0"/>
              <a:t> return 0;</a:t>
            </a:r>
          </a:p>
          <a:p>
            <a:pPr marL="0" indent="0">
              <a:buNone/>
            </a:pPr>
            <a:r>
              <a:rPr lang="en-US" dirty="0"/>
              <a:t> }</a:t>
            </a:r>
          </a:p>
        </p:txBody>
      </p:sp>
    </p:spTree>
    <p:extLst>
      <p:ext uri="{BB962C8B-B14F-4D97-AF65-F5344CB8AC3E}">
        <p14:creationId xmlns:p14="http://schemas.microsoft.com/office/powerpoint/2010/main" val="354524716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29A12-FEED-FF99-71D1-DA2A97C6171D}"/>
              </a:ext>
            </a:extLst>
          </p:cNvPr>
          <p:cNvSpPr>
            <a:spLocks noGrp="1"/>
          </p:cNvSpPr>
          <p:nvPr>
            <p:ph type="title" idx="4294967295"/>
          </p:nvPr>
        </p:nvSpPr>
        <p:spPr>
          <a:xfrm>
            <a:off x="1676400" y="763588"/>
            <a:ext cx="10515600" cy="1325562"/>
          </a:xfrm>
          <a:prstGeom prst="rect">
            <a:avLst/>
          </a:prstGeom>
        </p:spPr>
        <p:txBody>
          <a:bodyPr/>
          <a:lstStyle/>
          <a:p>
            <a:r>
              <a:rPr lang="en-US" b="0" i="0" dirty="0">
                <a:solidFill>
                  <a:srgbClr val="0D0D0D"/>
                </a:solidFill>
                <a:effectLst/>
                <a:highlight>
                  <a:srgbClr val="FFFFFF"/>
                </a:highlight>
                <a:latin typeface="ui-sans-serif"/>
              </a:rPr>
              <a:t>Nested loops</a:t>
            </a:r>
            <a:endParaRPr lang="en-US" dirty="0"/>
          </a:p>
        </p:txBody>
      </p:sp>
      <p:sp>
        <p:nvSpPr>
          <p:cNvPr id="3" name="Content Placeholder 2">
            <a:extLst>
              <a:ext uri="{FF2B5EF4-FFF2-40B4-BE49-F238E27FC236}">
                <a16:creationId xmlns:a16="http://schemas.microsoft.com/office/drawing/2014/main" id="{EA0F3F37-B85D-C1D8-9751-C86E041664CE}"/>
              </a:ext>
            </a:extLst>
          </p:cNvPr>
          <p:cNvSpPr>
            <a:spLocks noGrp="1"/>
          </p:cNvSpPr>
          <p:nvPr>
            <p:ph idx="4294967295"/>
          </p:nvPr>
        </p:nvSpPr>
        <p:spPr>
          <a:xfrm>
            <a:off x="1676400" y="1928813"/>
            <a:ext cx="10515600" cy="4351337"/>
          </a:xfrm>
          <a:prstGeom prst="rect">
            <a:avLst/>
          </a:prstGeom>
        </p:spPr>
        <p:txBody>
          <a:bodyPr>
            <a:normAutofit/>
          </a:bodyPr>
          <a:lstStyle/>
          <a:p>
            <a:r>
              <a:rPr lang="en-US" sz="2000" dirty="0">
                <a:solidFill>
                  <a:srgbClr val="0D0D0D"/>
                </a:solidFill>
                <a:highlight>
                  <a:srgbClr val="FFFFFF"/>
                </a:highlight>
                <a:latin typeface="ui-sans-serif"/>
              </a:rPr>
              <a:t>Nested loops in C++ refer to the concept of having one loop inside another loop. This allows for more complex and structured iterations over data structures like arrays, matrices, or any other multi-dimensional data.</a:t>
            </a:r>
          </a:p>
          <a:p>
            <a:pPr algn="l">
              <a:buFont typeface="+mj-lt"/>
              <a:buAutoNum type="arabicPeriod"/>
            </a:pPr>
            <a:r>
              <a:rPr lang="en-US" sz="2000" b="1" dirty="0">
                <a:solidFill>
                  <a:srgbClr val="0D0D0D"/>
                </a:solidFill>
                <a:highlight>
                  <a:srgbClr val="FFFFFF"/>
                </a:highlight>
                <a:latin typeface="ui-sans-serif"/>
              </a:rPr>
              <a:t>Outer Loop</a:t>
            </a:r>
            <a:r>
              <a:rPr lang="en-US" sz="2000" dirty="0">
                <a:solidFill>
                  <a:srgbClr val="0D0D0D"/>
                </a:solidFill>
                <a:highlight>
                  <a:srgbClr val="FFFFFF"/>
                </a:highlight>
                <a:latin typeface="ui-sans-serif"/>
              </a:rPr>
              <a:t>: The outer loop serves as the primary loop controlling the overall iteration. It contains another loop inside it.</a:t>
            </a:r>
          </a:p>
          <a:p>
            <a:pPr algn="l">
              <a:buFont typeface="+mj-lt"/>
              <a:buAutoNum type="arabicPeriod"/>
            </a:pPr>
            <a:r>
              <a:rPr lang="en-US" sz="2000" b="1" dirty="0">
                <a:solidFill>
                  <a:srgbClr val="0D0D0D"/>
                </a:solidFill>
                <a:highlight>
                  <a:srgbClr val="FFFFFF"/>
                </a:highlight>
                <a:latin typeface="ui-sans-serif"/>
              </a:rPr>
              <a:t>Inner Loop</a:t>
            </a:r>
            <a:r>
              <a:rPr lang="en-US" sz="2000" dirty="0">
                <a:solidFill>
                  <a:srgbClr val="0D0D0D"/>
                </a:solidFill>
                <a:highlight>
                  <a:srgbClr val="FFFFFF"/>
                </a:highlight>
                <a:latin typeface="ui-sans-serif"/>
              </a:rPr>
              <a:t>: The inner loop is nested within the outer loop. It's executed multiple times for each iteration of the outer loop.</a:t>
            </a:r>
          </a:p>
          <a:p>
            <a:pPr algn="l">
              <a:buFont typeface="+mj-lt"/>
              <a:buAutoNum type="arabicPeriod"/>
            </a:pPr>
            <a:r>
              <a:rPr lang="en-US" sz="2000" b="1" dirty="0">
                <a:solidFill>
                  <a:srgbClr val="0D0D0D"/>
                </a:solidFill>
                <a:highlight>
                  <a:srgbClr val="FFFFFF"/>
                </a:highlight>
                <a:latin typeface="ui-sans-serif"/>
              </a:rPr>
              <a:t>Iteration</a:t>
            </a:r>
            <a:r>
              <a:rPr lang="en-US" sz="2000" dirty="0">
                <a:solidFill>
                  <a:srgbClr val="0D0D0D"/>
                </a:solidFill>
                <a:highlight>
                  <a:srgbClr val="FFFFFF"/>
                </a:highlight>
                <a:latin typeface="ui-sans-serif"/>
              </a:rPr>
              <a:t>: For each iteration of the outer loop, the inner loop is executed from start to finish. This process continues until the outer loop's condition is no longer met.</a:t>
            </a:r>
          </a:p>
          <a:p>
            <a:endParaRPr lang="en-US" b="0" i="0" dirty="0">
              <a:solidFill>
                <a:srgbClr val="0D0D0D"/>
              </a:solidFill>
              <a:effectLst/>
              <a:highlight>
                <a:srgbClr val="FFFFFF"/>
              </a:highlight>
              <a:latin typeface="ui-sans-serif"/>
            </a:endParaRPr>
          </a:p>
        </p:txBody>
      </p:sp>
    </p:spTree>
    <p:extLst>
      <p:ext uri="{BB962C8B-B14F-4D97-AF65-F5344CB8AC3E}">
        <p14:creationId xmlns:p14="http://schemas.microsoft.com/office/powerpoint/2010/main" val="86076916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F1F7A-CB89-8AC0-914B-31E7503EFD08}"/>
              </a:ext>
            </a:extLst>
          </p:cNvPr>
          <p:cNvSpPr>
            <a:spLocks noGrp="1"/>
          </p:cNvSpPr>
          <p:nvPr>
            <p:ph type="title" idx="4294967295"/>
          </p:nvPr>
        </p:nvSpPr>
        <p:spPr>
          <a:xfrm>
            <a:off x="0" y="365125"/>
            <a:ext cx="7886700" cy="1325563"/>
          </a:xfrm>
          <a:prstGeom prst="rect">
            <a:avLst/>
          </a:prstGeom>
        </p:spPr>
        <p:txBody>
          <a:bodyPr/>
          <a:lstStyle/>
          <a:p>
            <a:r>
              <a:rPr lang="en-US" dirty="0"/>
              <a:t>Syntax of Nested loops</a:t>
            </a:r>
          </a:p>
        </p:txBody>
      </p:sp>
      <p:sp>
        <p:nvSpPr>
          <p:cNvPr id="3" name="Content Placeholder 2">
            <a:extLst>
              <a:ext uri="{FF2B5EF4-FFF2-40B4-BE49-F238E27FC236}">
                <a16:creationId xmlns:a16="http://schemas.microsoft.com/office/drawing/2014/main" id="{CAE7BFB8-93FF-C7AC-AC46-45B407E357BE}"/>
              </a:ext>
            </a:extLst>
          </p:cNvPr>
          <p:cNvSpPr>
            <a:spLocks noGrp="1"/>
          </p:cNvSpPr>
          <p:nvPr>
            <p:ph idx="4294967295"/>
          </p:nvPr>
        </p:nvSpPr>
        <p:spPr>
          <a:xfrm>
            <a:off x="3829050" y="1825625"/>
            <a:ext cx="8362950" cy="4351338"/>
          </a:xfrm>
          <a:prstGeom prst="rect">
            <a:avLst/>
          </a:prstGeom>
        </p:spPr>
        <p:txBody>
          <a:bodyPr/>
          <a:lstStyle/>
          <a:p>
            <a:pPr marL="0" indent="0">
              <a:buNone/>
            </a:pPr>
            <a:r>
              <a:rPr lang="en-US" dirty="0"/>
              <a:t>for (initialization; condition; update)</a:t>
            </a:r>
          </a:p>
          <a:p>
            <a:pPr marL="0" indent="0">
              <a:buNone/>
            </a:pPr>
            <a:r>
              <a:rPr lang="en-US" dirty="0"/>
              <a:t> {</a:t>
            </a:r>
          </a:p>
          <a:p>
            <a:pPr marL="0" indent="0">
              <a:buNone/>
            </a:pPr>
            <a:r>
              <a:rPr lang="en-US" dirty="0"/>
              <a:t> // Outer loop code</a:t>
            </a:r>
          </a:p>
          <a:p>
            <a:pPr marL="0" indent="0">
              <a:buNone/>
            </a:pPr>
            <a:r>
              <a:rPr lang="en-US" dirty="0"/>
              <a:t> for (</a:t>
            </a:r>
            <a:r>
              <a:rPr lang="en-US" dirty="0" err="1"/>
              <a:t>inner_initialization</a:t>
            </a:r>
            <a:r>
              <a:rPr lang="en-US" dirty="0"/>
              <a:t>; </a:t>
            </a:r>
            <a:r>
              <a:rPr lang="en-US" dirty="0" err="1"/>
              <a:t>inner_condition</a:t>
            </a:r>
            <a:r>
              <a:rPr lang="en-US" dirty="0"/>
              <a:t>; </a:t>
            </a:r>
            <a:r>
              <a:rPr lang="en-US" dirty="0" err="1"/>
              <a:t>inner_update</a:t>
            </a:r>
            <a:r>
              <a:rPr lang="en-US" dirty="0"/>
              <a:t>) {</a:t>
            </a:r>
          </a:p>
          <a:p>
            <a:pPr marL="0" indent="0">
              <a:buNone/>
            </a:pPr>
            <a:r>
              <a:rPr lang="en-US" dirty="0"/>
              <a:t> // Inner loop code </a:t>
            </a:r>
          </a:p>
          <a:p>
            <a:pPr marL="0" indent="0">
              <a:buNone/>
            </a:pPr>
            <a:r>
              <a:rPr lang="en-US" dirty="0"/>
              <a:t>}</a:t>
            </a:r>
          </a:p>
          <a:p>
            <a:pPr marL="0" indent="0">
              <a:buNone/>
            </a:pPr>
            <a:r>
              <a:rPr lang="en-US" dirty="0"/>
              <a:t> }</a:t>
            </a:r>
          </a:p>
        </p:txBody>
      </p:sp>
    </p:spTree>
    <p:extLst>
      <p:ext uri="{BB962C8B-B14F-4D97-AF65-F5344CB8AC3E}">
        <p14:creationId xmlns:p14="http://schemas.microsoft.com/office/powerpoint/2010/main" val="235933348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3E07D-B8A4-BCCA-131D-2CE391F5A6D3}"/>
              </a:ext>
            </a:extLst>
          </p:cNvPr>
          <p:cNvSpPr>
            <a:spLocks noGrp="1"/>
          </p:cNvSpPr>
          <p:nvPr>
            <p:ph type="title"/>
          </p:nvPr>
        </p:nvSpPr>
        <p:spPr>
          <a:xfrm>
            <a:off x="1981200" y="152401"/>
            <a:ext cx="6172200" cy="1143000"/>
          </a:xfrm>
        </p:spPr>
        <p:txBody>
          <a:bodyPr>
            <a:normAutofit/>
          </a:bodyPr>
          <a:lstStyle/>
          <a:p>
            <a:r>
              <a:rPr lang="en-US" sz="4400" dirty="0">
                <a:solidFill>
                  <a:srgbClr val="0D0D0D"/>
                </a:solidFill>
                <a:highlight>
                  <a:srgbClr val="FFFFFF"/>
                </a:highlight>
                <a:latin typeface="ui-sans-serif"/>
              </a:rPr>
              <a:t>Strings in C++</a:t>
            </a:r>
            <a:endParaRPr lang="en-US" sz="4400" dirty="0"/>
          </a:p>
        </p:txBody>
      </p:sp>
      <p:sp>
        <p:nvSpPr>
          <p:cNvPr id="3" name="Text Placeholder 2">
            <a:extLst>
              <a:ext uri="{FF2B5EF4-FFF2-40B4-BE49-F238E27FC236}">
                <a16:creationId xmlns:a16="http://schemas.microsoft.com/office/drawing/2014/main" id="{83ABD95D-129F-2DA7-82FF-DA9AC3DD2695}"/>
              </a:ext>
            </a:extLst>
          </p:cNvPr>
          <p:cNvSpPr>
            <a:spLocks noGrp="1"/>
          </p:cNvSpPr>
          <p:nvPr>
            <p:ph type="body" idx="1"/>
          </p:nvPr>
        </p:nvSpPr>
        <p:spPr>
          <a:xfrm>
            <a:off x="2147888" y="1524001"/>
            <a:ext cx="7886700" cy="4565651"/>
          </a:xfrm>
        </p:spPr>
        <p:txBody>
          <a:bodyPr/>
          <a:lstStyle/>
          <a:p>
            <a:pPr algn="l">
              <a:buFont typeface="Arial" panose="020B0604020202020204" pitchFamily="34" charset="0"/>
              <a:buChar char="•"/>
            </a:pPr>
            <a:r>
              <a:rPr lang="en-US" b="0" i="0" dirty="0">
                <a:solidFill>
                  <a:srgbClr val="0D0D0D"/>
                </a:solidFill>
                <a:effectLst/>
                <a:highlight>
                  <a:srgbClr val="FFFFFF"/>
                </a:highlight>
                <a:latin typeface="ui-sans-serif"/>
              </a:rPr>
              <a:t>Strings are sequences of characters used to represent text in C++.</a:t>
            </a:r>
          </a:p>
          <a:p>
            <a:pPr algn="l">
              <a:buFont typeface="Arial" panose="020B0604020202020204" pitchFamily="34" charset="0"/>
              <a:buChar char="•"/>
            </a:pPr>
            <a:r>
              <a:rPr lang="en-US" b="0" i="0" dirty="0">
                <a:solidFill>
                  <a:srgbClr val="0D0D0D"/>
                </a:solidFill>
                <a:effectLst/>
                <a:highlight>
                  <a:srgbClr val="FFFFFF"/>
                </a:highlight>
                <a:latin typeface="ui-sans-serif"/>
              </a:rPr>
              <a:t>Understanding how to manipulate strings is essential for many programming tasks.</a:t>
            </a:r>
          </a:p>
          <a:p>
            <a:endParaRPr lang="en-US" dirty="0"/>
          </a:p>
        </p:txBody>
      </p:sp>
    </p:spTree>
    <p:extLst>
      <p:ext uri="{BB962C8B-B14F-4D97-AF65-F5344CB8AC3E}">
        <p14:creationId xmlns:p14="http://schemas.microsoft.com/office/powerpoint/2010/main" val="79715444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5CC6F-5D49-2628-2AC9-4D000A3C6BE5}"/>
              </a:ext>
            </a:extLst>
          </p:cNvPr>
          <p:cNvSpPr>
            <a:spLocks noGrp="1"/>
          </p:cNvSpPr>
          <p:nvPr>
            <p:ph type="title" idx="4294967295"/>
          </p:nvPr>
        </p:nvSpPr>
        <p:spPr>
          <a:xfrm>
            <a:off x="1676400" y="763588"/>
            <a:ext cx="10515600" cy="1325562"/>
          </a:xfrm>
          <a:prstGeom prst="rect">
            <a:avLst/>
          </a:prstGeom>
        </p:spPr>
        <p:txBody>
          <a:bodyPr/>
          <a:lstStyle/>
          <a:p>
            <a:r>
              <a:rPr lang="en-US" b="0" i="0" dirty="0">
                <a:solidFill>
                  <a:srgbClr val="0D0D0D"/>
                </a:solidFill>
                <a:effectLst/>
                <a:highlight>
                  <a:srgbClr val="FFFFFF"/>
                </a:highlight>
                <a:latin typeface="ui-sans-serif"/>
              </a:rPr>
              <a:t>Declaring and Initializing Strings</a:t>
            </a:r>
            <a:endParaRPr lang="en-US" dirty="0"/>
          </a:p>
        </p:txBody>
      </p:sp>
      <p:sp>
        <p:nvSpPr>
          <p:cNvPr id="5" name="Rectangle 2">
            <a:extLst>
              <a:ext uri="{FF2B5EF4-FFF2-40B4-BE49-F238E27FC236}">
                <a16:creationId xmlns:a16="http://schemas.microsoft.com/office/drawing/2014/main" id="{8B68722E-D795-8CBF-808F-6F77A63135B5}"/>
              </a:ext>
            </a:extLst>
          </p:cNvPr>
          <p:cNvSpPr>
            <a:spLocks noGrp="1" noChangeArrowheads="1"/>
          </p:cNvSpPr>
          <p:nvPr>
            <p:ph idx="4294967295"/>
          </p:nvPr>
        </p:nvSpPr>
        <p:spPr bwMode="auto">
          <a:xfrm>
            <a:off x="0" y="1611313"/>
            <a:ext cx="6934200" cy="28019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rtlCol="0" anchor="ctr" anchorCtr="0" compatLnSpc="1">
            <a:prstTxWarp prst="textNoShape">
              <a:avLst/>
            </a:prstTxWarp>
            <a:spAutoFit/>
          </a:bodyPr>
          <a:lstStyle/>
          <a:p>
            <a:pPr marL="0" indent="0" eaLnBrk="0" fontAlgn="base" hangingPunct="0">
              <a:lnSpc>
                <a:spcPct val="100000"/>
              </a:lnSpc>
              <a:spcBef>
                <a:spcPct val="0"/>
              </a:spcBef>
              <a:spcAft>
                <a:spcPct val="0"/>
              </a:spcAft>
              <a:buNone/>
            </a:pPr>
            <a:endParaRPr lang="en-US" altLang="en-US" sz="1800" dirty="0">
              <a:latin typeface="Arial" panose="020B0604020202020204" pitchFamily="34" charset="0"/>
            </a:endParaRPr>
          </a:p>
          <a:p>
            <a:pPr marL="0" indent="0" eaLnBrk="0" fontAlgn="base" hangingPunct="0">
              <a:lnSpc>
                <a:spcPct val="100000"/>
              </a:lnSpc>
              <a:spcBef>
                <a:spcPct val="0"/>
              </a:spcBef>
              <a:spcAft>
                <a:spcPct val="0"/>
              </a:spcAft>
              <a:buFontTx/>
              <a:buChar char="•"/>
            </a:pPr>
            <a:r>
              <a:rPr lang="en-US" altLang="en-US" sz="2400" dirty="0">
                <a:solidFill>
                  <a:srgbClr val="0D0D0D"/>
                </a:solidFill>
                <a:highlight>
                  <a:srgbClr val="FFFFFF"/>
                </a:highlight>
                <a:latin typeface="ui-sans-serif"/>
              </a:rPr>
              <a:t>Strings can be declared using the string class from the #include &lt;string&gt; header.</a:t>
            </a:r>
          </a:p>
          <a:p>
            <a:pPr marL="0" indent="0" eaLnBrk="0" fontAlgn="base" hangingPunct="0">
              <a:lnSpc>
                <a:spcPct val="100000"/>
              </a:lnSpc>
              <a:spcBef>
                <a:spcPct val="0"/>
              </a:spcBef>
              <a:spcAft>
                <a:spcPct val="0"/>
              </a:spcAft>
              <a:buFontTx/>
              <a:buChar char="•"/>
            </a:pPr>
            <a:r>
              <a:rPr lang="en-US" altLang="en-US" sz="2400" dirty="0">
                <a:solidFill>
                  <a:srgbClr val="0D0D0D"/>
                </a:solidFill>
                <a:highlight>
                  <a:srgbClr val="FFFFFF"/>
                </a:highlight>
                <a:latin typeface="ui-sans-serif"/>
              </a:rPr>
              <a:t>Example: string str = "Hello, World!";</a:t>
            </a:r>
          </a:p>
          <a:p>
            <a:pPr marL="0" indent="0" eaLnBrk="0" fontAlgn="base" hangingPunct="0">
              <a:lnSpc>
                <a:spcPct val="100000"/>
              </a:lnSpc>
              <a:spcBef>
                <a:spcPct val="0"/>
              </a:spcBef>
              <a:spcAft>
                <a:spcPct val="0"/>
              </a:spcAft>
              <a:buFontTx/>
              <a:buChar char="•"/>
            </a:pPr>
            <a:r>
              <a:rPr lang="en-US" altLang="en-US" sz="2400" dirty="0">
                <a:solidFill>
                  <a:srgbClr val="0D0D0D"/>
                </a:solidFill>
                <a:highlight>
                  <a:srgbClr val="FFFFFF"/>
                </a:highlight>
                <a:latin typeface="ui-sans-serif"/>
              </a:rPr>
              <a:t>Strings can also be initialized using constructors or assignment.</a:t>
            </a:r>
          </a:p>
          <a:p>
            <a:pPr marL="0" indent="0" eaLnBrk="0" fontAlgn="base" hangingPunct="0">
              <a:lnSpc>
                <a:spcPct val="100000"/>
              </a:lnSpc>
              <a:spcBef>
                <a:spcPct val="0"/>
              </a:spcBef>
              <a:spcAft>
                <a:spcPct val="0"/>
              </a:spcAft>
              <a:buNone/>
            </a:pPr>
            <a:endParaRPr lang="en-US" altLang="en-US" sz="1800" dirty="0">
              <a:latin typeface="Arial" panose="020B0604020202020204" pitchFamily="34" charset="0"/>
            </a:endParaRPr>
          </a:p>
        </p:txBody>
      </p:sp>
    </p:spTree>
    <p:extLst>
      <p:ext uri="{BB962C8B-B14F-4D97-AF65-F5344CB8AC3E}">
        <p14:creationId xmlns:p14="http://schemas.microsoft.com/office/powerpoint/2010/main" val="22881969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F8B03-C400-9333-1C26-07AC1C67B147}"/>
              </a:ext>
            </a:extLst>
          </p:cNvPr>
          <p:cNvSpPr>
            <a:spLocks noGrp="1"/>
          </p:cNvSpPr>
          <p:nvPr>
            <p:ph type="title" idx="4294967295"/>
          </p:nvPr>
        </p:nvSpPr>
        <p:spPr>
          <a:xfrm>
            <a:off x="1676400" y="763588"/>
            <a:ext cx="10515600" cy="1325562"/>
          </a:xfrm>
          <a:prstGeom prst="rect">
            <a:avLst/>
          </a:prstGeom>
        </p:spPr>
        <p:txBody>
          <a:bodyPr/>
          <a:lstStyle/>
          <a:p>
            <a:r>
              <a:rPr lang="en-US" b="0" i="0" dirty="0">
                <a:solidFill>
                  <a:srgbClr val="0D0D0D"/>
                </a:solidFill>
                <a:effectLst/>
                <a:highlight>
                  <a:srgbClr val="FFFFFF"/>
                </a:highlight>
                <a:latin typeface="ui-sans-serif"/>
              </a:rPr>
              <a:t>String Operations</a:t>
            </a:r>
            <a:endParaRPr lang="en-US" dirty="0"/>
          </a:p>
        </p:txBody>
      </p:sp>
      <p:sp>
        <p:nvSpPr>
          <p:cNvPr id="3" name="Content Placeholder 2">
            <a:extLst>
              <a:ext uri="{FF2B5EF4-FFF2-40B4-BE49-F238E27FC236}">
                <a16:creationId xmlns:a16="http://schemas.microsoft.com/office/drawing/2014/main" id="{6E324307-C875-8757-897B-5A4B19905E95}"/>
              </a:ext>
            </a:extLst>
          </p:cNvPr>
          <p:cNvSpPr>
            <a:spLocks noGrp="1"/>
          </p:cNvSpPr>
          <p:nvPr>
            <p:ph idx="4294967295"/>
          </p:nvPr>
        </p:nvSpPr>
        <p:spPr>
          <a:xfrm>
            <a:off x="1676400" y="1928813"/>
            <a:ext cx="10515600" cy="4351337"/>
          </a:xfrm>
          <a:prstGeom prst="rect">
            <a:avLst/>
          </a:prstGeom>
        </p:spPr>
        <p:txBody>
          <a:bodyPr/>
          <a:lstStyle/>
          <a:p>
            <a:pPr algn="l">
              <a:buFont typeface="Arial" panose="020B0604020202020204" pitchFamily="34" charset="0"/>
              <a:buChar char="•"/>
            </a:pPr>
            <a:r>
              <a:rPr lang="en-US" b="0" i="0" dirty="0">
                <a:solidFill>
                  <a:srgbClr val="0D0D0D"/>
                </a:solidFill>
                <a:effectLst/>
                <a:highlight>
                  <a:srgbClr val="FFFFFF"/>
                </a:highlight>
                <a:latin typeface="ui-sans-serif"/>
              </a:rPr>
              <a:t>Various operations are available to manipulate strings in C++.</a:t>
            </a:r>
          </a:p>
          <a:p>
            <a:pPr algn="l">
              <a:buFont typeface="Arial" panose="020B0604020202020204" pitchFamily="34" charset="0"/>
              <a:buChar char="•"/>
            </a:pPr>
            <a:r>
              <a:rPr lang="en-US" b="0" i="0" dirty="0">
                <a:solidFill>
                  <a:srgbClr val="0D0D0D"/>
                </a:solidFill>
                <a:effectLst/>
                <a:highlight>
                  <a:srgbClr val="FFFFFF"/>
                </a:highlight>
                <a:latin typeface="ui-sans-serif"/>
              </a:rPr>
              <a:t>Concatenation, comparison, substring extraction, finding length, and accessing characters are some common operations.</a:t>
            </a:r>
          </a:p>
          <a:p>
            <a:endParaRPr lang="en-US" dirty="0"/>
          </a:p>
        </p:txBody>
      </p:sp>
    </p:spTree>
    <p:extLst>
      <p:ext uri="{BB962C8B-B14F-4D97-AF65-F5344CB8AC3E}">
        <p14:creationId xmlns:p14="http://schemas.microsoft.com/office/powerpoint/2010/main" val="275765735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29DBB-6465-6600-3F30-F81262FCE526}"/>
              </a:ext>
            </a:extLst>
          </p:cNvPr>
          <p:cNvSpPr>
            <a:spLocks noGrp="1"/>
          </p:cNvSpPr>
          <p:nvPr>
            <p:ph type="title" idx="4294967295"/>
          </p:nvPr>
        </p:nvSpPr>
        <p:spPr>
          <a:xfrm>
            <a:off x="0" y="365125"/>
            <a:ext cx="7886700" cy="1006475"/>
          </a:xfrm>
          <a:prstGeom prst="rect">
            <a:avLst/>
          </a:prstGeom>
        </p:spPr>
        <p:txBody>
          <a:bodyPr/>
          <a:lstStyle/>
          <a:p>
            <a:r>
              <a:rPr lang="en-US" dirty="0"/>
              <a:t>String Concatenation</a:t>
            </a:r>
          </a:p>
        </p:txBody>
      </p:sp>
      <p:sp>
        <p:nvSpPr>
          <p:cNvPr id="4" name="Rectangle 1">
            <a:extLst>
              <a:ext uri="{FF2B5EF4-FFF2-40B4-BE49-F238E27FC236}">
                <a16:creationId xmlns:a16="http://schemas.microsoft.com/office/drawing/2014/main" id="{3E71A8C7-112B-7681-C093-D4969284D5F9}"/>
              </a:ext>
            </a:extLst>
          </p:cNvPr>
          <p:cNvSpPr>
            <a:spLocks noGrp="1" noChangeArrowheads="1"/>
          </p:cNvSpPr>
          <p:nvPr>
            <p:ph idx="4294967295"/>
          </p:nvPr>
        </p:nvSpPr>
        <p:spPr bwMode="auto">
          <a:xfrm>
            <a:off x="0" y="1447800"/>
            <a:ext cx="7886700" cy="47879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rtlCol="0" anchor="ctr" anchorCtr="0" compatLnSpc="1">
            <a:prstTxWarp prst="textNoShape">
              <a:avLst/>
            </a:prstTxWarp>
            <a:spAutoFit/>
          </a:bodyPr>
          <a:lstStyle/>
          <a:p>
            <a:pPr marL="0" indent="0">
              <a:buNone/>
            </a:pPr>
            <a:endParaRPr lang="en-US" altLang="en-US" dirty="0"/>
          </a:p>
          <a:p>
            <a:pPr lvl="0"/>
            <a:r>
              <a:rPr lang="en-US" altLang="en-US" dirty="0"/>
              <a:t>Strings can be concatenated using the + operator or the append() method.</a:t>
            </a:r>
          </a:p>
          <a:p>
            <a:pPr lvl="0"/>
            <a:r>
              <a:rPr lang="en-US" dirty="0"/>
              <a:t>Example:</a:t>
            </a:r>
          </a:p>
          <a:p>
            <a:pPr marL="0" indent="0">
              <a:buNone/>
            </a:pPr>
            <a:r>
              <a:rPr lang="en-US" dirty="0"/>
              <a:t>string str1 = "Hello";</a:t>
            </a:r>
          </a:p>
          <a:p>
            <a:pPr marL="0" indent="0">
              <a:buNone/>
            </a:pPr>
            <a:r>
              <a:rPr lang="en-US" dirty="0"/>
              <a:t> string str2 = "World";</a:t>
            </a:r>
          </a:p>
          <a:p>
            <a:pPr marL="0" indent="0">
              <a:buNone/>
            </a:pPr>
            <a:r>
              <a:rPr lang="en-US" dirty="0"/>
              <a:t> string result = str1 + " " + str2;</a:t>
            </a:r>
          </a:p>
          <a:p>
            <a:pPr marL="0" indent="0">
              <a:buNone/>
            </a:pPr>
            <a:endParaRPr lang="en-US" altLang="en-US" dirty="0"/>
          </a:p>
          <a:p>
            <a:pPr lvl="0"/>
            <a:endParaRPr lang="en-US" altLang="en-US" dirty="0"/>
          </a:p>
        </p:txBody>
      </p:sp>
    </p:spTree>
    <p:extLst>
      <p:ext uri="{BB962C8B-B14F-4D97-AF65-F5344CB8AC3E}">
        <p14:creationId xmlns:p14="http://schemas.microsoft.com/office/powerpoint/2010/main" val="335444490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5A17F95-F2F3-2EBC-18DD-2578DBAD2680}"/>
              </a:ext>
            </a:extLst>
          </p:cNvPr>
          <p:cNvSpPr>
            <a:spLocks noGrp="1"/>
          </p:cNvSpPr>
          <p:nvPr>
            <p:ph type="title" idx="4294967295"/>
          </p:nvPr>
        </p:nvSpPr>
        <p:spPr>
          <a:xfrm>
            <a:off x="1676400" y="763588"/>
            <a:ext cx="10515600" cy="1325562"/>
          </a:xfrm>
          <a:prstGeom prst="rect">
            <a:avLst/>
          </a:prstGeom>
        </p:spPr>
        <p:txBody>
          <a:bodyPr/>
          <a:lstStyle/>
          <a:p>
            <a:r>
              <a:rPr lang="en-US" b="0" i="0" dirty="0">
                <a:solidFill>
                  <a:srgbClr val="0D0D0D"/>
                </a:solidFill>
                <a:effectLst/>
                <a:highlight>
                  <a:srgbClr val="FFFFFF"/>
                </a:highlight>
                <a:latin typeface="ui-sans-serif"/>
              </a:rPr>
              <a:t>String Comparison</a:t>
            </a:r>
            <a:endParaRPr lang="en-US" dirty="0"/>
          </a:p>
        </p:txBody>
      </p:sp>
      <p:sp>
        <p:nvSpPr>
          <p:cNvPr id="4" name="Rectangle 1">
            <a:extLst>
              <a:ext uri="{FF2B5EF4-FFF2-40B4-BE49-F238E27FC236}">
                <a16:creationId xmlns:a16="http://schemas.microsoft.com/office/drawing/2014/main" id="{7409BCF4-7B66-CF61-D474-3BAC23C511F1}"/>
              </a:ext>
            </a:extLst>
          </p:cNvPr>
          <p:cNvSpPr>
            <a:spLocks noGrp="1" noChangeArrowheads="1"/>
          </p:cNvSpPr>
          <p:nvPr>
            <p:ph idx="4294967295"/>
          </p:nvPr>
        </p:nvSpPr>
        <p:spPr bwMode="auto">
          <a:xfrm>
            <a:off x="0" y="2032000"/>
            <a:ext cx="7886700" cy="39385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rtlCol="0" anchor="ctr" anchorCtr="0" compatLnSpc="1">
            <a:prstTxWarp prst="textNoShape">
              <a:avLst/>
            </a:prstTxWarp>
            <a:spAutoFit/>
          </a:bodyPr>
          <a:lstStyle/>
          <a:p>
            <a:pPr lvl="0"/>
            <a:endParaRPr lang="en-US" altLang="en-US" dirty="0"/>
          </a:p>
          <a:p>
            <a:pPr lvl="0"/>
            <a:r>
              <a:rPr lang="en-US" altLang="en-US" sz="2400" dirty="0"/>
              <a:t>Strings can be compared using relational operators (&lt;, &lt;=, ==, !=, &gt;, &gt;=) or the compare() method.</a:t>
            </a:r>
          </a:p>
          <a:p>
            <a:pPr lvl="0"/>
            <a:r>
              <a:rPr lang="en-US" altLang="en-US" sz="2400" dirty="0"/>
              <a:t>Example:</a:t>
            </a:r>
          </a:p>
          <a:p>
            <a:pPr marL="0" indent="0">
              <a:buNone/>
            </a:pPr>
            <a:r>
              <a:rPr lang="en-US" sz="2400" dirty="0"/>
              <a:t>string str1 = "apple"; </a:t>
            </a:r>
          </a:p>
          <a:p>
            <a:pPr marL="0" indent="0">
              <a:buNone/>
            </a:pPr>
            <a:r>
              <a:rPr lang="en-US" sz="2400" dirty="0"/>
              <a:t>string str2 = "banana";</a:t>
            </a:r>
          </a:p>
          <a:p>
            <a:pPr marL="0" indent="0">
              <a:buNone/>
            </a:pPr>
            <a:r>
              <a:rPr lang="en-US" sz="2400" dirty="0"/>
              <a:t> int result = str1.compare(str2);</a:t>
            </a:r>
            <a:endParaRPr lang="en-US" altLang="en-US" sz="2400" dirty="0"/>
          </a:p>
          <a:p>
            <a:pPr lvl="0"/>
            <a:endParaRPr lang="en-US" altLang="en-US" dirty="0"/>
          </a:p>
        </p:txBody>
      </p:sp>
    </p:spTree>
    <p:extLst>
      <p:ext uri="{BB962C8B-B14F-4D97-AF65-F5344CB8AC3E}">
        <p14:creationId xmlns:p14="http://schemas.microsoft.com/office/powerpoint/2010/main" val="327597099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83235-0738-9405-96C4-A0C58077798E}"/>
              </a:ext>
            </a:extLst>
          </p:cNvPr>
          <p:cNvSpPr>
            <a:spLocks noGrp="1"/>
          </p:cNvSpPr>
          <p:nvPr>
            <p:ph type="title" idx="4294967295"/>
          </p:nvPr>
        </p:nvSpPr>
        <p:spPr>
          <a:xfrm>
            <a:off x="0" y="365125"/>
            <a:ext cx="7886700" cy="1325563"/>
          </a:xfrm>
          <a:prstGeom prst="rect">
            <a:avLst/>
          </a:prstGeom>
        </p:spPr>
        <p:txBody>
          <a:bodyPr/>
          <a:lstStyle/>
          <a:p>
            <a:r>
              <a:rPr lang="en-US" dirty="0"/>
              <a:t>Finding Length of String</a:t>
            </a:r>
          </a:p>
        </p:txBody>
      </p:sp>
      <p:sp>
        <p:nvSpPr>
          <p:cNvPr id="4" name="Rectangle 1">
            <a:extLst>
              <a:ext uri="{FF2B5EF4-FFF2-40B4-BE49-F238E27FC236}">
                <a16:creationId xmlns:a16="http://schemas.microsoft.com/office/drawing/2014/main" id="{96CB5442-45A5-725A-5AD8-C7D0618E6CE0}"/>
              </a:ext>
            </a:extLst>
          </p:cNvPr>
          <p:cNvSpPr>
            <a:spLocks noGrp="1" noChangeArrowheads="1"/>
          </p:cNvSpPr>
          <p:nvPr>
            <p:ph idx="4294967295"/>
          </p:nvPr>
        </p:nvSpPr>
        <p:spPr bwMode="auto">
          <a:xfrm>
            <a:off x="0" y="2095500"/>
            <a:ext cx="7886700" cy="38115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rtlCol="0" anchor="ctr" anchorCtr="0" compatLnSpc="1">
            <a:prstTxWarp prst="textNoShape">
              <a:avLst/>
            </a:prstTxWarp>
            <a:spAutoFit/>
          </a:bodyPr>
          <a:lstStyle/>
          <a:p>
            <a:pPr lvl="0"/>
            <a:endParaRPr lang="en-US" altLang="en-US" sz="2400" dirty="0"/>
          </a:p>
          <a:p>
            <a:pPr lvl="0"/>
            <a:r>
              <a:rPr lang="en-US" altLang="en-US" sz="2400" dirty="0"/>
              <a:t>Length of a string can be found using the length() method or the size() method.</a:t>
            </a:r>
          </a:p>
          <a:p>
            <a:pPr lvl="0"/>
            <a:r>
              <a:rPr lang="en-US" altLang="en-US" sz="2400" dirty="0"/>
              <a:t>Example </a:t>
            </a:r>
          </a:p>
          <a:p>
            <a:pPr lvl="0"/>
            <a:r>
              <a:rPr lang="en-US" sz="2400" dirty="0"/>
              <a:t>string str = "Hello";</a:t>
            </a:r>
          </a:p>
          <a:p>
            <a:pPr lvl="0"/>
            <a:r>
              <a:rPr lang="en-US" sz="2400" dirty="0"/>
              <a:t> int length = </a:t>
            </a:r>
            <a:r>
              <a:rPr lang="en-US" sz="2400" dirty="0" err="1"/>
              <a:t>str.length</a:t>
            </a:r>
            <a:r>
              <a:rPr lang="en-US" sz="2400" dirty="0"/>
              <a:t>();</a:t>
            </a:r>
            <a:endParaRPr lang="en-US" altLang="en-US" sz="2400" dirty="0"/>
          </a:p>
          <a:p>
            <a:pPr lvl="0"/>
            <a:r>
              <a:rPr lang="en-US" altLang="en-US" dirty="0"/>
              <a:t/>
            </a:r>
            <a:br>
              <a:rPr lang="en-US" altLang="en-US" dirty="0"/>
            </a:br>
            <a:endParaRPr lang="en-US" altLang="en-US" dirty="0"/>
          </a:p>
        </p:txBody>
      </p:sp>
    </p:spTree>
    <p:extLst>
      <p:ext uri="{BB962C8B-B14F-4D97-AF65-F5344CB8AC3E}">
        <p14:creationId xmlns:p14="http://schemas.microsoft.com/office/powerpoint/2010/main" val="200393618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5EA95-7B93-8B7D-BC1F-4673F69BD793}"/>
              </a:ext>
            </a:extLst>
          </p:cNvPr>
          <p:cNvSpPr>
            <a:spLocks noGrp="1"/>
          </p:cNvSpPr>
          <p:nvPr>
            <p:ph type="title" idx="4294967295"/>
          </p:nvPr>
        </p:nvSpPr>
        <p:spPr>
          <a:xfrm>
            <a:off x="0" y="365125"/>
            <a:ext cx="7886700" cy="1325563"/>
          </a:xfrm>
          <a:prstGeom prst="rect">
            <a:avLst/>
          </a:prstGeom>
        </p:spPr>
        <p:txBody>
          <a:bodyPr/>
          <a:lstStyle/>
          <a:p>
            <a:r>
              <a:rPr lang="en-US" dirty="0"/>
              <a:t>Modifying Strings</a:t>
            </a:r>
          </a:p>
        </p:txBody>
      </p:sp>
      <p:sp>
        <p:nvSpPr>
          <p:cNvPr id="3" name="Content Placeholder 2">
            <a:extLst>
              <a:ext uri="{FF2B5EF4-FFF2-40B4-BE49-F238E27FC236}">
                <a16:creationId xmlns:a16="http://schemas.microsoft.com/office/drawing/2014/main" id="{C2E7DFDE-7A75-6D9E-1DAB-135284DD8841}"/>
              </a:ext>
            </a:extLst>
          </p:cNvPr>
          <p:cNvSpPr>
            <a:spLocks noGrp="1"/>
          </p:cNvSpPr>
          <p:nvPr>
            <p:ph idx="4294967295"/>
          </p:nvPr>
        </p:nvSpPr>
        <p:spPr>
          <a:xfrm>
            <a:off x="0" y="1825625"/>
            <a:ext cx="7886700" cy="4351338"/>
          </a:xfrm>
          <a:prstGeom prst="rect">
            <a:avLst/>
          </a:prstGeom>
        </p:spPr>
        <p:txBody>
          <a:bodyPr/>
          <a:lstStyle/>
          <a:p>
            <a:r>
              <a:rPr lang="en-US" dirty="0"/>
              <a:t>Strings in C++ are mutable and can be modified.</a:t>
            </a:r>
          </a:p>
          <a:p>
            <a:r>
              <a:rPr lang="en-US" dirty="0"/>
              <a:t>Characters in a string can be changed directly.</a:t>
            </a:r>
          </a:p>
          <a:p>
            <a:r>
              <a:rPr lang="en-US" dirty="0"/>
              <a:t>Example</a:t>
            </a:r>
          </a:p>
          <a:p>
            <a:pPr marL="0" indent="0">
              <a:buNone/>
            </a:pPr>
            <a:r>
              <a:rPr lang="en-US" dirty="0"/>
              <a:t>string str = "Hello";</a:t>
            </a:r>
          </a:p>
          <a:p>
            <a:pPr marL="0" indent="0">
              <a:buNone/>
            </a:pPr>
            <a:r>
              <a:rPr lang="en-US" dirty="0"/>
              <a:t> str[1] = 'a'; // Changes second character to 'a'</a:t>
            </a:r>
          </a:p>
        </p:txBody>
      </p:sp>
    </p:spTree>
    <p:extLst>
      <p:ext uri="{BB962C8B-B14F-4D97-AF65-F5344CB8AC3E}">
        <p14:creationId xmlns:p14="http://schemas.microsoft.com/office/powerpoint/2010/main" val="44991080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A935E9-B601-8A15-C623-79DB8FCB6022}"/>
              </a:ext>
            </a:extLst>
          </p:cNvPr>
          <p:cNvSpPr>
            <a:spLocks noGrp="1"/>
          </p:cNvSpPr>
          <p:nvPr>
            <p:ph idx="4294967295"/>
          </p:nvPr>
        </p:nvSpPr>
        <p:spPr>
          <a:xfrm>
            <a:off x="0" y="2819400"/>
            <a:ext cx="7886700" cy="3357563"/>
          </a:xfrm>
          <a:prstGeom prst="rect">
            <a:avLst/>
          </a:prstGeom>
        </p:spPr>
        <p:txBody>
          <a:bodyPr>
            <a:normAutofit/>
          </a:bodyPr>
          <a:lstStyle/>
          <a:p>
            <a:pPr marL="0" indent="0">
              <a:buNone/>
            </a:pPr>
            <a:r>
              <a:rPr lang="en-US" sz="6000" dirty="0"/>
              <a:t>                Thanks </a:t>
            </a:r>
          </a:p>
        </p:txBody>
      </p:sp>
    </p:spTree>
    <p:extLst>
      <p:ext uri="{BB962C8B-B14F-4D97-AF65-F5344CB8AC3E}">
        <p14:creationId xmlns:p14="http://schemas.microsoft.com/office/powerpoint/2010/main" val="424596155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67</TotalTime>
  <Words>1019</Words>
  <Application>Microsoft Office PowerPoint</Application>
  <PresentationFormat>Widescreen</PresentationFormat>
  <Paragraphs>141</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Calibri</vt:lpstr>
      <vt:lpstr>Calibri Light</vt:lpstr>
      <vt:lpstr>Courier New</vt:lpstr>
      <vt:lpstr>Monotype Sorts</vt:lpstr>
      <vt:lpstr>Times New Roman</vt:lpstr>
      <vt:lpstr>ui-sans-serif</vt:lpstr>
      <vt:lpstr>Office Theme</vt:lpstr>
      <vt:lpstr>Ministry of Higher Education Kabul university  faculty of  Information &amp; communication technology</vt:lpstr>
      <vt:lpstr>Loop</vt:lpstr>
      <vt:lpstr>For Loop</vt:lpstr>
      <vt:lpstr>For loop Cont.…</vt:lpstr>
      <vt:lpstr>For loop Cont...</vt:lpstr>
      <vt:lpstr>While Loop</vt:lpstr>
      <vt:lpstr>While Loop Example</vt:lpstr>
      <vt:lpstr>Loop Tracing</vt:lpstr>
      <vt:lpstr>Do-While Loop</vt:lpstr>
      <vt:lpstr>Do While Example</vt:lpstr>
      <vt:lpstr>Example </vt:lpstr>
      <vt:lpstr>Nested loops</vt:lpstr>
      <vt:lpstr>Syntax of Nested loops</vt:lpstr>
      <vt:lpstr>Strings in C++</vt:lpstr>
      <vt:lpstr>Declaring and Initializing Strings</vt:lpstr>
      <vt:lpstr>String Operations</vt:lpstr>
      <vt:lpstr>String Concatenation</vt:lpstr>
      <vt:lpstr>String Comparison</vt:lpstr>
      <vt:lpstr>Finding Length of String</vt:lpstr>
      <vt:lpstr>Modifying Strings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Ministry of Higher Education Kabul university  faculty of  Information &amp; communication technology</dc:title>
  <dc:creator>Mohammadi</dc:creator>
  <cp:lastModifiedBy>Sayed Ziafat</cp:lastModifiedBy>
  <cp:revision>9</cp:revision>
  <dcterms:created xsi:type="dcterms:W3CDTF">2025-03-05T05:10:16Z</dcterms:created>
  <dcterms:modified xsi:type="dcterms:W3CDTF">2026-04-19T10:07:35Z</dcterms:modified>
</cp:coreProperties>
</file>