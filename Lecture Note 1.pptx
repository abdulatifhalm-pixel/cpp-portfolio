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1" r:id="rId8"/>
    <p:sldId id="267" r:id="rId9"/>
    <p:sldId id="271" r:id="rId10"/>
    <p:sldId id="277" r:id="rId11"/>
    <p:sldId id="269" r:id="rId12"/>
    <p:sldId id="268" r:id="rId13"/>
    <p:sldId id="270" r:id="rId14"/>
    <p:sldId id="273" r:id="rId15"/>
    <p:sldId id="274" r:id="rId16"/>
    <p:sldId id="276" r:id="rId17"/>
    <p:sldId id="275" r:id="rId18"/>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9EC66-F53A-F50A-058C-D26321765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FB143C-4C25-41BC-1EF6-0D7C572198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24041A-6C01-9F9E-4ED2-FF00D8B3916B}"/>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BD9CC639-F9F1-70D6-109A-37460DEBF6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4D012-77E7-47B3-7F10-49FF3D24F577}"/>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88820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5553E-9EEB-ADED-D990-077D075FBB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AA7DD8-7CCF-71CD-AD20-595136C312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D85838-F555-3FD5-A5F4-74C36A6C7D3B}"/>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A5A90FAF-8D84-C094-19D0-FB792444A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678A58-6645-D0E3-5B21-A82D01322A6F}"/>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396693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455E-F962-4874-21B7-F44C8495B9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DB52C4-EC3C-24AD-00DA-577162882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D3E838-E2D8-43CF-61F6-B1B30D0FB7C4}"/>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2A136121-9300-1060-20B0-A634742FC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503F2-D6F7-D960-581B-B45C17BF5F69}"/>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180211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FF6E1-2CF1-D606-3A1E-9B97AD8895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6207B-ED35-2670-C877-71F23DCA01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452590-A290-4D0D-6E40-784BC8048E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D9FBA6-858C-95AA-2FD6-2F6A84401931}"/>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6" name="Footer Placeholder 5">
            <a:extLst>
              <a:ext uri="{FF2B5EF4-FFF2-40B4-BE49-F238E27FC236}">
                <a16:creationId xmlns:a16="http://schemas.microsoft.com/office/drawing/2014/main" id="{C00D3F39-EA93-BEC3-82A7-5FCD933388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8291B-AB37-D0A3-C53C-CF31DEC14D9B}"/>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4210379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ACD04-A9E6-1C15-B442-46B38B9833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8B26E1-DEB4-7805-AACA-F6DD1204C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47F596-5357-563A-9849-E37F8BA509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46709C-E0A4-EC45-6A36-0BF8CCFBCE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F1D0B8-6D6F-BC24-AD3D-836C1E4D35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0944C3-FA47-112F-9BB5-A918291E08AF}"/>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8" name="Footer Placeholder 7">
            <a:extLst>
              <a:ext uri="{FF2B5EF4-FFF2-40B4-BE49-F238E27FC236}">
                <a16:creationId xmlns:a16="http://schemas.microsoft.com/office/drawing/2014/main" id="{272F252A-1E30-819C-6DA5-DAB51F3192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3B8F21-7EBD-3F9A-D5CE-99583EA48DBC}"/>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231816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DCD59-E9EB-C4F8-D397-47D195E150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C88A9C-AB80-4756-2217-24D2789ED569}"/>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4" name="Footer Placeholder 3">
            <a:extLst>
              <a:ext uri="{FF2B5EF4-FFF2-40B4-BE49-F238E27FC236}">
                <a16:creationId xmlns:a16="http://schemas.microsoft.com/office/drawing/2014/main" id="{D143591C-AD93-7713-5348-11E94C567F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166AB6-F0E3-631D-6AE6-31E03218598C}"/>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277704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EC2B2C-CA92-1EC2-AB10-1CE735B4D990}"/>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3" name="Footer Placeholder 2">
            <a:extLst>
              <a:ext uri="{FF2B5EF4-FFF2-40B4-BE49-F238E27FC236}">
                <a16:creationId xmlns:a16="http://schemas.microsoft.com/office/drawing/2014/main" id="{94CCB149-D837-C2F6-BF78-C098FE29FB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705F71-D8AF-5874-FFA4-70094FA35A10}"/>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3293639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80CC9-00DF-EB69-C1AF-A08095084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99E7E9-7964-030B-5616-0A8F7C6203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D41E89-8D68-4FEF-0E9E-ACF554229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4E10EB-55E2-A923-766F-11AD1C087364}"/>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6" name="Footer Placeholder 5">
            <a:extLst>
              <a:ext uri="{FF2B5EF4-FFF2-40B4-BE49-F238E27FC236}">
                <a16:creationId xmlns:a16="http://schemas.microsoft.com/office/drawing/2014/main" id="{8E4F402E-E1E4-B100-92B4-49B6390227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463F9-9E5D-31B2-3B1A-A01297E79345}"/>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2947175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6B9B-690F-5DA6-8683-494BD4C2C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B45955-629A-110D-329B-B450C45B2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C2688C-FC8C-29E3-E83C-4BAFB8842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FB7CF4-BC5A-EB2E-55F8-4C8BC413B013}"/>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6" name="Footer Placeholder 5">
            <a:extLst>
              <a:ext uri="{FF2B5EF4-FFF2-40B4-BE49-F238E27FC236}">
                <a16:creationId xmlns:a16="http://schemas.microsoft.com/office/drawing/2014/main" id="{08E57C21-B3FC-5C15-8447-44200C2D3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AC64B-9C7F-DF31-D692-85565D5C3CEE}"/>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417320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0D847-C291-C83E-779D-79B2E7392F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E229AC-75EE-8E20-353A-B33B967ECF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9BA15-A3BA-5037-D0C1-ED1227522E53}"/>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D466DCD9-2563-722D-5A06-ABBC37D91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9449EA-76DB-64EB-24FA-B7E1319A908E}"/>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986026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05A9E3-7689-AA83-FBFF-32FFEEBA96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02571A-B147-5269-2031-D8A9B22FBD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A816F7-12D1-BCB0-7114-15E06F64984A}"/>
              </a:ext>
            </a:extLst>
          </p:cNvPr>
          <p:cNvSpPr>
            <a:spLocks noGrp="1"/>
          </p:cNvSpPr>
          <p:nvPr>
            <p:ph type="dt" sz="half" idx="10"/>
          </p:nvPr>
        </p:nvSpPr>
        <p:spPr/>
        <p:txBody>
          <a:body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16D21292-0FDC-D2D7-53BD-EF4FDB136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02CE0-7F67-DCB0-69DA-DE364CC03CDC}"/>
              </a:ext>
            </a:extLst>
          </p:cNvPr>
          <p:cNvSpPr>
            <a:spLocks noGrp="1"/>
          </p:cNvSpPr>
          <p:nvPr>
            <p:ph type="sldNum" sz="quarter" idx="12"/>
          </p:nvPr>
        </p:nvSpPr>
        <p:spPr/>
        <p:txBody>
          <a:bodyPr/>
          <a:lstStyle/>
          <a:p>
            <a:fld id="{70E50880-1C24-490D-ABA1-2B141A3DB2CD}" type="slidenum">
              <a:rPr lang="en-US" smtClean="0"/>
              <a:t>‹#›</a:t>
            </a:fld>
            <a:endParaRPr lang="en-US"/>
          </a:p>
        </p:txBody>
      </p:sp>
    </p:spTree>
    <p:extLst>
      <p:ext uri="{BB962C8B-B14F-4D97-AF65-F5344CB8AC3E}">
        <p14:creationId xmlns:p14="http://schemas.microsoft.com/office/powerpoint/2010/main" val="506721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18CBE3-E2A4-02A8-2963-7F45AA4F5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BD2796-8917-BFE9-E8BE-3F96623E5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3FC495-6346-6EFD-AC53-3C9EF2451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046EE7-7649-4F8D-8A91-CBF2A2C5C20D}" type="datetimeFigureOut">
              <a:rPr lang="en-US" smtClean="0"/>
              <a:t>3/7/2025</a:t>
            </a:fld>
            <a:endParaRPr lang="en-US"/>
          </a:p>
        </p:txBody>
      </p:sp>
      <p:sp>
        <p:nvSpPr>
          <p:cNvPr id="5" name="Footer Placeholder 4">
            <a:extLst>
              <a:ext uri="{FF2B5EF4-FFF2-40B4-BE49-F238E27FC236}">
                <a16:creationId xmlns:a16="http://schemas.microsoft.com/office/drawing/2014/main" id="{65472336-3F74-9AFD-01C3-A358F49774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ABE6C5-AC83-4362-D744-7AB7755FDA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E50880-1C24-490D-ABA1-2B141A3DB2CD}" type="slidenum">
              <a:rPr lang="en-US" smtClean="0"/>
              <a:t>‹#›</a:t>
            </a:fld>
            <a:endParaRPr lang="en-US"/>
          </a:p>
        </p:txBody>
      </p:sp>
    </p:spTree>
    <p:extLst>
      <p:ext uri="{BB962C8B-B14F-4D97-AF65-F5344CB8AC3E}">
        <p14:creationId xmlns:p14="http://schemas.microsoft.com/office/powerpoint/2010/main" val="2604851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1ED528-1D5C-EFF8-FD5E-7E2461635FB6}"/>
              </a:ext>
            </a:extLst>
          </p:cNvPr>
          <p:cNvSpPr>
            <a:spLocks noGrp="1"/>
          </p:cNvSpPr>
          <p:nvPr>
            <p:ph type="ctrTitle"/>
          </p:nvPr>
        </p:nvSpPr>
        <p:spPr>
          <a:xfrm>
            <a:off x="1524000" y="1293338"/>
            <a:ext cx="9144000" cy="3274592"/>
          </a:xfrm>
        </p:spPr>
        <p:txBody>
          <a:bodyPr anchor="ctr">
            <a:normAutofit/>
          </a:bodyPr>
          <a:lstStyle/>
          <a:p>
            <a:r>
              <a:rPr lang="en-US" sz="4500" dirty="0">
                <a:latin typeface="Times New Roman" panose="02020603050405020304" pitchFamily="18" charset="0"/>
                <a:cs typeface="Times New Roman" panose="02020603050405020304" pitchFamily="18" charset="0"/>
              </a:rPr>
              <a:t>Ministry of Higher Education</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Kabul university </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faculty of </a:t>
            </a:r>
            <a:br>
              <a:rPr lang="en-US" sz="4500" dirty="0">
                <a:latin typeface="Times New Roman" panose="02020603050405020304" pitchFamily="18" charset="0"/>
                <a:cs typeface="Times New Roman" panose="02020603050405020304" pitchFamily="18" charset="0"/>
              </a:rPr>
            </a:br>
            <a:r>
              <a:rPr lang="en-US" sz="4500">
                <a:latin typeface="Times New Roman" panose="02020603050405020304" pitchFamily="18" charset="0"/>
                <a:cs typeface="Times New Roman" panose="02020603050405020304" pitchFamily="18" charset="0"/>
              </a:rPr>
              <a:t>Information &amp; </a:t>
            </a:r>
            <a:r>
              <a:rPr lang="en-US" sz="4500" dirty="0">
                <a:latin typeface="Times New Roman" panose="02020603050405020304" pitchFamily="18" charset="0"/>
                <a:cs typeface="Times New Roman" panose="02020603050405020304" pitchFamily="18" charset="0"/>
              </a:rPr>
              <a:t>communication technology</a:t>
            </a:r>
          </a:p>
        </p:txBody>
      </p:sp>
      <p:sp>
        <p:nvSpPr>
          <p:cNvPr id="3" name="Subtitle 2">
            <a:extLst>
              <a:ext uri="{FF2B5EF4-FFF2-40B4-BE49-F238E27FC236}">
                <a16:creationId xmlns:a16="http://schemas.microsoft.com/office/drawing/2014/main" id="{7CBB58DF-6296-3A06-1D6F-5AE99F68F1AA}"/>
              </a:ext>
            </a:extLst>
          </p:cNvPr>
          <p:cNvSpPr>
            <a:spLocks noGrp="1"/>
          </p:cNvSpPr>
          <p:nvPr>
            <p:ph type="subTitle" idx="1"/>
          </p:nvPr>
        </p:nvSpPr>
        <p:spPr>
          <a:xfrm>
            <a:off x="1524000" y="5514052"/>
            <a:ext cx="9144000" cy="651910"/>
          </a:xfrm>
        </p:spPr>
        <p:txBody>
          <a:bodyPr anchor="ctr">
            <a:normAutofit/>
          </a:bodyPr>
          <a:lstStyle/>
          <a:p>
            <a:r>
              <a:rPr lang="en-US">
                <a:latin typeface="Times New Roman" panose="02020603050405020304" pitchFamily="18" charset="0"/>
                <a:cs typeface="Times New Roman" panose="02020603050405020304" pitchFamily="18" charset="0"/>
              </a:rPr>
              <a:t>Introduction to C ++ Programming  </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79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PU with binary numbers and blueprint">
            <a:extLst>
              <a:ext uri="{FF2B5EF4-FFF2-40B4-BE49-F238E27FC236}">
                <a16:creationId xmlns:a16="http://schemas.microsoft.com/office/drawing/2014/main" id="{1B2E4BD1-CE53-76FE-3FC1-D247203D9151}"/>
              </a:ext>
            </a:extLst>
          </p:cNvPr>
          <p:cNvPicPr>
            <a:picLocks noChangeAspect="1"/>
          </p:cNvPicPr>
          <p:nvPr/>
        </p:nvPicPr>
        <p:blipFill rotWithShape="1">
          <a:blip r:embed="rId2"/>
          <a:srcRect l="27979" r="22079"/>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9A003-124D-4D55-59FB-C9296B46A27A}"/>
              </a:ext>
            </a:extLst>
          </p:cNvPr>
          <p:cNvSpPr>
            <a:spLocks noGrp="1"/>
          </p:cNvSpPr>
          <p:nvPr>
            <p:ph type="title"/>
          </p:nvPr>
        </p:nvSpPr>
        <p:spPr>
          <a:xfrm>
            <a:off x="761801" y="328512"/>
            <a:ext cx="4778387" cy="1628970"/>
          </a:xfrm>
        </p:spPr>
        <p:txBody>
          <a:bodyPr anchor="ctr">
            <a:normAutofit/>
          </a:bodyPr>
          <a:lstStyle/>
          <a:p>
            <a:r>
              <a:rPr lang="en-US" sz="4000" b="0" i="0">
                <a:effectLst/>
                <a:highlight>
                  <a:srgbClr val="FFFFFF"/>
                </a:highlight>
                <a:latin typeface="Söhne"/>
              </a:rPr>
              <a:t>Overview</a:t>
            </a:r>
            <a:endParaRPr lang="en-US" sz="4000"/>
          </a:p>
        </p:txBody>
      </p:sp>
      <p:sp>
        <p:nvSpPr>
          <p:cNvPr id="3" name="Content Placeholder 2">
            <a:extLst>
              <a:ext uri="{FF2B5EF4-FFF2-40B4-BE49-F238E27FC236}">
                <a16:creationId xmlns:a16="http://schemas.microsoft.com/office/drawing/2014/main" id="{08832FF1-135F-A931-508B-8B5C97A2999D}"/>
              </a:ext>
            </a:extLst>
          </p:cNvPr>
          <p:cNvSpPr>
            <a:spLocks noGrp="1"/>
          </p:cNvSpPr>
          <p:nvPr>
            <p:ph idx="1"/>
          </p:nvPr>
        </p:nvSpPr>
        <p:spPr>
          <a:xfrm>
            <a:off x="761801" y="2884929"/>
            <a:ext cx="4659756" cy="3374137"/>
          </a:xfrm>
        </p:spPr>
        <p:txBody>
          <a:bodyPr anchor="ctr">
            <a:normAutofit/>
          </a:bodyPr>
          <a:lstStyle/>
          <a:p>
            <a:pPr>
              <a:buFont typeface="Arial" panose="020B0604020202020204" pitchFamily="34" charset="0"/>
              <a:buChar char="•"/>
            </a:pPr>
            <a:r>
              <a:rPr lang="en-US" sz="1300" b="0" i="0">
                <a:effectLst/>
                <a:highlight>
                  <a:srgbClr val="FFFFFF"/>
                </a:highlight>
                <a:latin typeface="Söhne"/>
              </a:rPr>
              <a:t>History of C++</a:t>
            </a:r>
          </a:p>
          <a:p>
            <a:pPr>
              <a:buFont typeface="Arial" panose="020B0604020202020204" pitchFamily="34" charset="0"/>
              <a:buChar char="•"/>
            </a:pPr>
            <a:r>
              <a:rPr lang="en-US" sz="1300" b="0" i="0">
                <a:effectLst/>
                <a:highlight>
                  <a:srgbClr val="FFFFFF"/>
                </a:highlight>
                <a:latin typeface="Söhne"/>
              </a:rPr>
              <a:t>What is C++?</a:t>
            </a:r>
          </a:p>
          <a:p>
            <a:pPr>
              <a:buFont typeface="Arial" panose="020B0604020202020204" pitchFamily="34" charset="0"/>
              <a:buChar char="•"/>
            </a:pPr>
            <a:r>
              <a:rPr lang="en-US" sz="1300" b="0" i="0">
                <a:effectLst/>
                <a:highlight>
                  <a:srgbClr val="FFFFFF"/>
                </a:highlight>
                <a:latin typeface="Söhne"/>
              </a:rPr>
              <a:t>Why Learn C++?</a:t>
            </a:r>
          </a:p>
          <a:p>
            <a:pPr>
              <a:buFont typeface="Arial" panose="020B0604020202020204" pitchFamily="34" charset="0"/>
              <a:buChar char="•"/>
            </a:pPr>
            <a:r>
              <a:rPr lang="en-US" sz="1300" b="0" i="0">
                <a:effectLst/>
                <a:highlight>
                  <a:srgbClr val="FFFFFF"/>
                </a:highlight>
                <a:latin typeface="Söhne"/>
              </a:rPr>
              <a:t>Key Features</a:t>
            </a:r>
          </a:p>
          <a:p>
            <a:pPr>
              <a:buFont typeface="Arial" panose="020B0604020202020204" pitchFamily="34" charset="0"/>
              <a:buChar char="•"/>
            </a:pPr>
            <a:r>
              <a:rPr lang="en-US" sz="1300" b="0" i="0">
                <a:effectLst/>
                <a:highlight>
                  <a:srgbClr val="FFFFFF"/>
                </a:highlight>
                <a:latin typeface="Söhne"/>
              </a:rPr>
              <a:t>Applications of C++</a:t>
            </a:r>
          </a:p>
          <a:p>
            <a:pPr>
              <a:buFont typeface="Arial" panose="020B0604020202020204" pitchFamily="34" charset="0"/>
              <a:buChar char="•"/>
            </a:pPr>
            <a:r>
              <a:rPr lang="en-US" sz="1300"/>
              <a:t>Procedure Oriented Programming</a:t>
            </a:r>
          </a:p>
          <a:p>
            <a:pPr>
              <a:buFont typeface="Arial" panose="020B0604020202020204" pitchFamily="34" charset="0"/>
              <a:buChar char="•"/>
            </a:pPr>
            <a:r>
              <a:rPr lang="en-US" sz="1300"/>
              <a:t>Need of Object-Oriented Programming</a:t>
            </a:r>
          </a:p>
          <a:p>
            <a:pPr>
              <a:buFont typeface="Arial" panose="020B0604020202020204" pitchFamily="34" charset="0"/>
              <a:buChar char="•"/>
            </a:pPr>
            <a:r>
              <a:rPr lang="en-US" sz="1300"/>
              <a:t>features of Object-Oriented Programming</a:t>
            </a:r>
          </a:p>
          <a:p>
            <a:pPr>
              <a:buFont typeface="Arial" panose="020B0604020202020204" pitchFamily="34" charset="0"/>
              <a:buChar char="•"/>
            </a:pPr>
            <a:r>
              <a:rPr lang="en-US" sz="1300"/>
              <a:t>Comparison of Procedural and Object-Oriented Approach</a:t>
            </a:r>
          </a:p>
          <a:p>
            <a:pPr>
              <a:buFont typeface="Arial" panose="020B0604020202020204" pitchFamily="34" charset="0"/>
              <a:buChar char="•"/>
            </a:pPr>
            <a:r>
              <a:rPr lang="en-US" sz="1300"/>
              <a:t>Advantages  and disadvantages of OOP</a:t>
            </a:r>
          </a:p>
          <a:p>
            <a:pPr>
              <a:buFont typeface="Arial" panose="020B0604020202020204" pitchFamily="34" charset="0"/>
              <a:buChar char="•"/>
            </a:pPr>
            <a:r>
              <a:rPr lang="en-US" sz="1300"/>
              <a:t>Application of OOPs</a:t>
            </a:r>
            <a:endParaRPr lang="en-US" sz="1300" b="0" i="0">
              <a:effectLst/>
              <a:highlight>
                <a:srgbClr val="FFFFFF"/>
              </a:highlight>
              <a:latin typeface="Söhne"/>
            </a:endParaRPr>
          </a:p>
          <a:p>
            <a:endParaRPr lang="en-US" sz="1300"/>
          </a:p>
        </p:txBody>
      </p:sp>
    </p:spTree>
    <p:extLst>
      <p:ext uri="{BB962C8B-B14F-4D97-AF65-F5344CB8AC3E}">
        <p14:creationId xmlns:p14="http://schemas.microsoft.com/office/powerpoint/2010/main" val="122562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F69527-F40E-93A2-AC80-D1F1ADCC1540}"/>
              </a:ext>
            </a:extLst>
          </p:cNvPr>
          <p:cNvSpPr>
            <a:spLocks noGrp="1"/>
          </p:cNvSpPr>
          <p:nvPr>
            <p:ph type="title"/>
          </p:nvPr>
        </p:nvSpPr>
        <p:spPr>
          <a:xfrm>
            <a:off x="1285240" y="1050595"/>
            <a:ext cx="8074815" cy="1618489"/>
          </a:xfrm>
        </p:spPr>
        <p:txBody>
          <a:bodyPr anchor="ctr">
            <a:normAutofit/>
          </a:bodyPr>
          <a:lstStyle/>
          <a:p>
            <a:r>
              <a:rPr lang="en-US" sz="7200" b="0" i="0">
                <a:effectLst/>
                <a:highlight>
                  <a:srgbClr val="FFFFFF"/>
                </a:highlight>
                <a:latin typeface="Söhne"/>
              </a:rPr>
              <a:t>History</a:t>
            </a:r>
            <a:endParaRPr lang="en-US" sz="7200"/>
          </a:p>
        </p:txBody>
      </p:sp>
      <p:sp>
        <p:nvSpPr>
          <p:cNvPr id="3" name="Content Placeholder 2">
            <a:extLst>
              <a:ext uri="{FF2B5EF4-FFF2-40B4-BE49-F238E27FC236}">
                <a16:creationId xmlns:a16="http://schemas.microsoft.com/office/drawing/2014/main" id="{9389B539-080C-1FBA-6A89-129710465633}"/>
              </a:ext>
            </a:extLst>
          </p:cNvPr>
          <p:cNvSpPr>
            <a:spLocks noGrp="1"/>
          </p:cNvSpPr>
          <p:nvPr>
            <p:ph idx="1"/>
          </p:nvPr>
        </p:nvSpPr>
        <p:spPr>
          <a:xfrm>
            <a:off x="1285240" y="2969469"/>
            <a:ext cx="8074815" cy="2800395"/>
          </a:xfrm>
        </p:spPr>
        <p:txBody>
          <a:bodyPr anchor="t">
            <a:normAutofit/>
          </a:bodyPr>
          <a:lstStyle/>
          <a:p>
            <a:pPr>
              <a:buFont typeface="Arial" panose="020B0604020202020204" pitchFamily="34" charset="0"/>
              <a:buChar char="•"/>
            </a:pPr>
            <a:r>
              <a:rPr lang="en-US" sz="2400" b="0" i="0" dirty="0">
                <a:effectLst/>
                <a:highlight>
                  <a:srgbClr val="FFFFFF"/>
                </a:highlight>
                <a:latin typeface="Söhne"/>
              </a:rPr>
              <a:t>Developed by Bjarne at Bell Labs in the early 1980s.</a:t>
            </a:r>
          </a:p>
          <a:p>
            <a:pPr>
              <a:buFont typeface="Arial" panose="020B0604020202020204" pitchFamily="34" charset="0"/>
              <a:buChar char="•"/>
            </a:pPr>
            <a:r>
              <a:rPr lang="en-US" sz="2400" b="0" i="0" dirty="0">
                <a:effectLst/>
                <a:highlight>
                  <a:srgbClr val="FFFFFF"/>
                </a:highlight>
                <a:latin typeface="Söhne"/>
              </a:rPr>
              <a:t>The first commercial release of C++ was in 1985.</a:t>
            </a:r>
          </a:p>
          <a:p>
            <a:pPr>
              <a:buFont typeface="Arial" panose="020B0604020202020204" pitchFamily="34" charset="0"/>
              <a:buChar char="•"/>
            </a:pPr>
            <a:r>
              <a:rPr lang="en-US" sz="2400" b="0" i="0" dirty="0">
                <a:effectLst/>
                <a:highlight>
                  <a:srgbClr val="FFFFFF"/>
                </a:highlight>
                <a:latin typeface="Söhne"/>
              </a:rPr>
              <a:t>Significant milestones:</a:t>
            </a:r>
          </a:p>
          <a:p>
            <a:pPr>
              <a:buFont typeface="Arial" panose="020B0604020202020204" pitchFamily="34" charset="0"/>
              <a:buChar char="•"/>
            </a:pPr>
            <a:r>
              <a:rPr lang="en-US" sz="2400" b="0" i="0" dirty="0">
                <a:effectLst/>
                <a:highlight>
                  <a:srgbClr val="FFFFFF"/>
                </a:highlight>
                <a:latin typeface="Söhne"/>
              </a:rPr>
              <a:t>C++ continues to evolve, with new standards and updates addressing the needs of modern software development</a:t>
            </a:r>
          </a:p>
          <a:p>
            <a:endParaRPr lang="en-US" sz="2400" dirty="0"/>
          </a:p>
        </p:txBody>
      </p:sp>
    </p:spTree>
    <p:extLst>
      <p:ext uri="{BB962C8B-B14F-4D97-AF65-F5344CB8AC3E}">
        <p14:creationId xmlns:p14="http://schemas.microsoft.com/office/powerpoint/2010/main" val="1772240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159F5EAF-41D5-9FDB-5253-ED788D5E828B}"/>
              </a:ext>
            </a:extLst>
          </p:cNvPr>
          <p:cNvPicPr>
            <a:picLocks noChangeAspect="1"/>
          </p:cNvPicPr>
          <p:nvPr/>
        </p:nvPicPr>
        <p:blipFill rotWithShape="1">
          <a:blip r:embed="rId2"/>
          <a:srcRect r="28859" b="-1"/>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16" name="Freeform: Shape 15">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324B19-7EE8-92C4-2349-1A17B17CC51E}"/>
              </a:ext>
            </a:extLst>
          </p:cNvPr>
          <p:cNvSpPr>
            <a:spLocks noGrp="1"/>
          </p:cNvSpPr>
          <p:nvPr>
            <p:ph type="title"/>
          </p:nvPr>
        </p:nvSpPr>
        <p:spPr>
          <a:xfrm>
            <a:off x="374904" y="856488"/>
            <a:ext cx="4992624" cy="1243584"/>
          </a:xfrm>
        </p:spPr>
        <p:txBody>
          <a:bodyPr anchor="ctr">
            <a:normAutofit/>
          </a:bodyPr>
          <a:lstStyle/>
          <a:p>
            <a:r>
              <a:rPr lang="en-US" sz="3400" b="0" i="0">
                <a:effectLst/>
                <a:highlight>
                  <a:srgbClr val="FFFFFF"/>
                </a:highlight>
                <a:latin typeface="Söhne"/>
              </a:rPr>
              <a:t>What is C++?</a:t>
            </a:r>
            <a:endParaRPr lang="en-US" sz="3400"/>
          </a:p>
        </p:txBody>
      </p:sp>
      <p:sp>
        <p:nvSpPr>
          <p:cNvPr id="20" name="Rectangle 19">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1504794-C1D5-5445-C232-F501479A70BD}"/>
              </a:ext>
            </a:extLst>
          </p:cNvPr>
          <p:cNvSpPr>
            <a:spLocks noGrp="1"/>
          </p:cNvSpPr>
          <p:nvPr>
            <p:ph idx="1"/>
          </p:nvPr>
        </p:nvSpPr>
        <p:spPr>
          <a:xfrm>
            <a:off x="374904" y="2522949"/>
            <a:ext cx="5065776" cy="3402363"/>
          </a:xfrm>
        </p:spPr>
        <p:txBody>
          <a:bodyPr anchor="t">
            <a:normAutofit/>
          </a:bodyPr>
          <a:lstStyle/>
          <a:p>
            <a:pPr>
              <a:buFont typeface="Arial" panose="020B0604020202020204" pitchFamily="34" charset="0"/>
              <a:buChar char="•"/>
            </a:pPr>
            <a:r>
              <a:rPr lang="en-US" sz="2000" b="0" i="0" dirty="0">
                <a:effectLst/>
                <a:highlight>
                  <a:srgbClr val="FFFFFF"/>
                </a:highlight>
                <a:latin typeface="Söhne"/>
              </a:rPr>
              <a:t>Originated as an extension of the C programming language, known as "C with Classes."</a:t>
            </a:r>
          </a:p>
          <a:p>
            <a:pPr>
              <a:buFont typeface="Arial" panose="020B0604020202020204" pitchFamily="34" charset="0"/>
              <a:buChar char="•"/>
            </a:pPr>
            <a:r>
              <a:rPr lang="en-US" sz="2000" b="0" i="0" dirty="0">
                <a:effectLst/>
                <a:highlight>
                  <a:srgbClr val="FFFFFF"/>
                </a:highlight>
                <a:latin typeface="Söhne"/>
              </a:rPr>
              <a:t>An extension of the C programming language with additional features such as classes and objects.</a:t>
            </a:r>
          </a:p>
          <a:p>
            <a:pPr>
              <a:buFont typeface="Arial" panose="020B0604020202020204" pitchFamily="34" charset="0"/>
              <a:buChar char="•"/>
            </a:pPr>
            <a:r>
              <a:rPr lang="en-US" sz="2000" b="0" i="0" dirty="0">
                <a:effectLst/>
                <a:highlight>
                  <a:srgbClr val="FFFFFF"/>
                </a:highlight>
                <a:latin typeface="Söhne"/>
              </a:rPr>
              <a:t>Often referred to as a "middle-level" programming language because it combines both low-level and high-level language features.</a:t>
            </a:r>
          </a:p>
          <a:p>
            <a:endParaRPr lang="en-US" sz="2000" dirty="0"/>
          </a:p>
        </p:txBody>
      </p:sp>
    </p:spTree>
    <p:extLst>
      <p:ext uri="{BB962C8B-B14F-4D97-AF65-F5344CB8AC3E}">
        <p14:creationId xmlns:p14="http://schemas.microsoft.com/office/powerpoint/2010/main" val="3491044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075C35D-BF1E-F506-DCB4-C0025C93988E}"/>
              </a:ext>
            </a:extLst>
          </p:cNvPr>
          <p:cNvSpPr>
            <a:spLocks noGrp="1"/>
          </p:cNvSpPr>
          <p:nvPr>
            <p:ph type="title"/>
          </p:nvPr>
        </p:nvSpPr>
        <p:spPr>
          <a:xfrm>
            <a:off x="1179226" y="1280679"/>
            <a:ext cx="9833548" cy="1325563"/>
          </a:xfrm>
        </p:spPr>
        <p:txBody>
          <a:bodyPr anchor="b">
            <a:normAutofit/>
          </a:bodyPr>
          <a:lstStyle/>
          <a:p>
            <a:pPr algn="ctr"/>
            <a:r>
              <a:rPr lang="en-US" sz="3600" b="0" i="0">
                <a:solidFill>
                  <a:schemeClr val="tx2"/>
                </a:solidFill>
                <a:effectLst/>
                <a:highlight>
                  <a:srgbClr val="FFFFFF"/>
                </a:highlight>
                <a:latin typeface="Söhne"/>
              </a:rPr>
              <a:t>Why Learn C++?</a:t>
            </a:r>
            <a:endParaRPr lang="en-US" sz="360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3A465EA-A014-4A71-DB6D-3B5B66E2B61D}"/>
              </a:ext>
            </a:extLst>
          </p:cNvPr>
          <p:cNvSpPr>
            <a:spLocks noGrp="1"/>
          </p:cNvSpPr>
          <p:nvPr>
            <p:ph idx="1"/>
          </p:nvPr>
        </p:nvSpPr>
        <p:spPr>
          <a:xfrm>
            <a:off x="1179226" y="2890979"/>
            <a:ext cx="9833548" cy="2693976"/>
          </a:xfrm>
        </p:spPr>
        <p:txBody>
          <a:bodyPr>
            <a:normAutofit/>
          </a:bodyPr>
          <a:lstStyle/>
          <a:p>
            <a:pPr>
              <a:buFont typeface="Arial" panose="020B0604020202020204" pitchFamily="34" charset="0"/>
              <a:buChar char="•"/>
            </a:pPr>
            <a:r>
              <a:rPr lang="en-US" sz="1800" b="0" i="0">
                <a:solidFill>
                  <a:schemeClr val="tx2"/>
                </a:solidFill>
                <a:effectLst/>
                <a:highlight>
                  <a:srgbClr val="FFFFFF"/>
                </a:highlight>
                <a:latin typeface="Söhne"/>
              </a:rPr>
              <a:t>Widely used in various domains such as system/software development, game development, and embedded systems.</a:t>
            </a:r>
          </a:p>
          <a:p>
            <a:pPr>
              <a:buFont typeface="Arial" panose="020B0604020202020204" pitchFamily="34" charset="0"/>
              <a:buChar char="•"/>
            </a:pPr>
            <a:r>
              <a:rPr lang="en-US" sz="1800" b="0" i="0">
                <a:solidFill>
                  <a:schemeClr val="tx2"/>
                </a:solidFill>
                <a:effectLst/>
                <a:highlight>
                  <a:srgbClr val="FFFFFF"/>
                </a:highlight>
                <a:latin typeface="Söhne"/>
              </a:rPr>
              <a:t>Provides a strong foundation for learning other programming languages.</a:t>
            </a:r>
          </a:p>
          <a:p>
            <a:pPr>
              <a:buFont typeface="Arial" panose="020B0604020202020204" pitchFamily="34" charset="0"/>
              <a:buChar char="•"/>
            </a:pPr>
            <a:r>
              <a:rPr lang="en-US" sz="1800" b="0" i="0">
                <a:solidFill>
                  <a:schemeClr val="tx2"/>
                </a:solidFill>
                <a:effectLst/>
                <a:highlight>
                  <a:srgbClr val="FFFFFF"/>
                </a:highlight>
                <a:latin typeface="Söhne"/>
              </a:rPr>
              <a:t>Offers greater control over system resources compared to high-level languages like Python or Java.</a:t>
            </a:r>
          </a:p>
          <a:p>
            <a:pPr>
              <a:buFont typeface="Arial" panose="020B0604020202020204" pitchFamily="34" charset="0"/>
              <a:buChar char="•"/>
            </a:pPr>
            <a:r>
              <a:rPr lang="en-US" sz="1800" b="0" i="0">
                <a:solidFill>
                  <a:schemeClr val="tx2"/>
                </a:solidFill>
                <a:effectLst/>
                <a:highlight>
                  <a:srgbClr val="FFFFFF"/>
                </a:highlight>
                <a:latin typeface="Söhne"/>
              </a:rPr>
              <a:t>Excellent performance due to its close-to-the-hardware nature.</a:t>
            </a:r>
          </a:p>
          <a:p>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03481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618C9-9865-2FA7-D97E-1CF79E625D80}"/>
              </a:ext>
            </a:extLst>
          </p:cNvPr>
          <p:cNvSpPr>
            <a:spLocks noGrp="1"/>
          </p:cNvSpPr>
          <p:nvPr>
            <p:ph type="title"/>
          </p:nvPr>
        </p:nvSpPr>
        <p:spPr>
          <a:xfrm>
            <a:off x="1043631" y="809898"/>
            <a:ext cx="9942716" cy="1554480"/>
          </a:xfrm>
        </p:spPr>
        <p:txBody>
          <a:bodyPr anchor="ctr">
            <a:normAutofit/>
          </a:bodyPr>
          <a:lstStyle/>
          <a:p>
            <a:r>
              <a:rPr lang="en-US" sz="4800" b="0" i="0">
                <a:effectLst/>
                <a:highlight>
                  <a:srgbClr val="FFFFFF"/>
                </a:highlight>
                <a:latin typeface="Söhne"/>
              </a:rPr>
              <a:t>Key Features</a:t>
            </a:r>
            <a:endParaRPr lang="en-US" sz="4800"/>
          </a:p>
        </p:txBody>
      </p:sp>
      <p:sp>
        <p:nvSpPr>
          <p:cNvPr id="3" name="Content Placeholder 2">
            <a:extLst>
              <a:ext uri="{FF2B5EF4-FFF2-40B4-BE49-F238E27FC236}">
                <a16:creationId xmlns:a16="http://schemas.microsoft.com/office/drawing/2014/main" id="{159F2D6A-1DB5-0B77-49FF-3D2FFB954209}"/>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US" sz="2200" b="0" i="0" dirty="0">
                <a:effectLst/>
                <a:highlight>
                  <a:srgbClr val="FFFFFF"/>
                </a:highlight>
                <a:latin typeface="Söhne"/>
              </a:rPr>
              <a:t>Object-Oriented: Supports concepts like classes, objects, inheritance, and polymorphism.</a:t>
            </a:r>
          </a:p>
          <a:p>
            <a:pPr>
              <a:buFont typeface="Arial" panose="020B0604020202020204" pitchFamily="34" charset="0"/>
              <a:buChar char="•"/>
            </a:pPr>
            <a:r>
              <a:rPr lang="en-US" sz="2200" b="0" i="0" dirty="0">
                <a:effectLst/>
                <a:highlight>
                  <a:srgbClr val="FFFFFF"/>
                </a:highlight>
                <a:latin typeface="Söhne"/>
              </a:rPr>
              <a:t>Platform Independent: Code written in C++ can be compiled to run on different platforms.</a:t>
            </a:r>
          </a:p>
          <a:p>
            <a:pPr>
              <a:buFont typeface="Arial" panose="020B0604020202020204" pitchFamily="34" charset="0"/>
              <a:buChar char="•"/>
            </a:pPr>
            <a:r>
              <a:rPr lang="en-US" sz="2200" b="0" i="0" dirty="0">
                <a:effectLst/>
                <a:highlight>
                  <a:srgbClr val="FFFFFF"/>
                </a:highlight>
                <a:latin typeface="Söhne"/>
              </a:rPr>
              <a:t>Strongly Typed: Requires explicit type declarations, promoting type safety.</a:t>
            </a:r>
          </a:p>
          <a:p>
            <a:pPr>
              <a:buFont typeface="Arial" panose="020B0604020202020204" pitchFamily="34" charset="0"/>
              <a:buChar char="•"/>
            </a:pPr>
            <a:r>
              <a:rPr lang="en-US" sz="2200" b="0" i="0" dirty="0">
                <a:effectLst/>
                <a:highlight>
                  <a:srgbClr val="FFFFFF"/>
                </a:highlight>
                <a:latin typeface="Söhne"/>
              </a:rPr>
              <a:t>Standard Template Library (STL): Provides a rich set of data structures and algorithms.</a:t>
            </a:r>
          </a:p>
          <a:p>
            <a:pPr>
              <a:buFont typeface="Arial" panose="020B0604020202020204" pitchFamily="34" charset="0"/>
              <a:buChar char="•"/>
            </a:pPr>
            <a:r>
              <a:rPr lang="en-US" sz="2200" b="0" i="0" dirty="0">
                <a:effectLst/>
                <a:highlight>
                  <a:srgbClr val="FFFFFF"/>
                </a:highlight>
                <a:latin typeface="Söhne"/>
              </a:rPr>
              <a:t>Memory Management: Offers both automatic and manual memory management.</a:t>
            </a:r>
          </a:p>
          <a:p>
            <a:endParaRPr lang="en-US"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28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B6D05-7FCD-07ED-8C8F-C379D6E46FD7}"/>
              </a:ext>
            </a:extLst>
          </p:cNvPr>
          <p:cNvSpPr>
            <a:spLocks noGrp="1"/>
          </p:cNvSpPr>
          <p:nvPr>
            <p:ph type="title"/>
          </p:nvPr>
        </p:nvSpPr>
        <p:spPr>
          <a:xfrm>
            <a:off x="1043631" y="809898"/>
            <a:ext cx="9942716" cy="1554480"/>
          </a:xfrm>
        </p:spPr>
        <p:txBody>
          <a:bodyPr anchor="ctr">
            <a:normAutofit/>
          </a:bodyPr>
          <a:lstStyle/>
          <a:p>
            <a:r>
              <a:rPr lang="en-US" sz="4800" b="0" i="0">
                <a:effectLst/>
                <a:highlight>
                  <a:srgbClr val="FFFFFF"/>
                </a:highlight>
                <a:latin typeface="Söhne"/>
              </a:rPr>
              <a:t>Applications of C++</a:t>
            </a:r>
            <a:br>
              <a:rPr lang="en-US" sz="4800"/>
            </a:br>
            <a:endParaRPr lang="en-US" sz="4800"/>
          </a:p>
        </p:txBody>
      </p:sp>
      <p:sp>
        <p:nvSpPr>
          <p:cNvPr id="3" name="Content Placeholder 2">
            <a:extLst>
              <a:ext uri="{FF2B5EF4-FFF2-40B4-BE49-F238E27FC236}">
                <a16:creationId xmlns:a16="http://schemas.microsoft.com/office/drawing/2014/main" id="{AF0363C0-EE51-4BF3-A14F-C34FDE8B506E}"/>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US" sz="2200" b="0" i="0" dirty="0">
                <a:effectLst/>
                <a:highlight>
                  <a:srgbClr val="FFFFFF"/>
                </a:highlight>
                <a:latin typeface="Söhne"/>
              </a:rPr>
              <a:t>System/Software Development: Operating systems, compilers, database systems.</a:t>
            </a:r>
          </a:p>
          <a:p>
            <a:pPr>
              <a:buFont typeface="Arial" panose="020B0604020202020204" pitchFamily="34" charset="0"/>
              <a:buChar char="•"/>
            </a:pPr>
            <a:r>
              <a:rPr lang="en-US" sz="2200" b="0" i="0" dirty="0">
                <a:effectLst/>
                <a:highlight>
                  <a:srgbClr val="FFFFFF"/>
                </a:highlight>
                <a:latin typeface="Söhne"/>
              </a:rPr>
              <a:t>Game Development: Many game engines </a:t>
            </a:r>
            <a:r>
              <a:rPr lang="en-US" sz="2200" b="0" i="0">
                <a:effectLst/>
                <a:highlight>
                  <a:srgbClr val="FFFFFF"/>
                </a:highlight>
                <a:latin typeface="Söhne"/>
              </a:rPr>
              <a:t>and Video games </a:t>
            </a:r>
            <a:r>
              <a:rPr lang="en-US" sz="2200" b="0" i="0" dirty="0">
                <a:effectLst/>
                <a:highlight>
                  <a:srgbClr val="FFFFFF"/>
                </a:highlight>
                <a:latin typeface="Söhne"/>
              </a:rPr>
              <a:t>are written in C++.</a:t>
            </a:r>
          </a:p>
          <a:p>
            <a:pPr>
              <a:buFont typeface="Arial" panose="020B0604020202020204" pitchFamily="34" charset="0"/>
              <a:buChar char="•"/>
            </a:pPr>
            <a:r>
              <a:rPr lang="en-US" sz="2200" b="0" i="0" dirty="0">
                <a:effectLst/>
                <a:highlight>
                  <a:srgbClr val="FFFFFF"/>
                </a:highlight>
                <a:latin typeface="Söhne"/>
              </a:rPr>
              <a:t>Embedded Systems: C++ is commonly used in firmware and device driver development.</a:t>
            </a:r>
          </a:p>
          <a:p>
            <a:pPr>
              <a:buFont typeface="Arial" panose="020B0604020202020204" pitchFamily="34" charset="0"/>
              <a:buChar char="•"/>
            </a:pPr>
            <a:r>
              <a:rPr lang="en-US" sz="2200" b="0" i="0" dirty="0">
                <a:effectLst/>
                <a:highlight>
                  <a:srgbClr val="FFFFFF"/>
                </a:highlight>
                <a:latin typeface="Söhne"/>
              </a:rPr>
              <a:t>Financial Systems: High-frequency trading platforms and banking software.</a:t>
            </a:r>
          </a:p>
          <a:p>
            <a:pPr>
              <a:buFont typeface="Arial" panose="020B0604020202020204" pitchFamily="34" charset="0"/>
              <a:buChar char="•"/>
            </a:pPr>
            <a:r>
              <a:rPr lang="en-US" sz="2200" b="0" i="0" dirty="0">
                <a:effectLst/>
                <a:highlight>
                  <a:srgbClr val="FFFFFF"/>
                </a:highlight>
                <a:latin typeface="Söhne"/>
              </a:rPr>
              <a:t>Graphics and Animation: Graphics libraries like OpenGL and DirectX are often used in C++.</a:t>
            </a:r>
          </a:p>
          <a:p>
            <a:endParaRPr lang="en-US"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096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86CDA9-F2E9-2533-A930-16FAC3A7352C}"/>
              </a:ext>
            </a:extLst>
          </p:cNvPr>
          <p:cNvSpPr>
            <a:spLocks noGrp="1"/>
          </p:cNvSpPr>
          <p:nvPr>
            <p:ph type="title"/>
          </p:nvPr>
        </p:nvSpPr>
        <p:spPr>
          <a:xfrm>
            <a:off x="1043631" y="809898"/>
            <a:ext cx="9942716" cy="1554480"/>
          </a:xfrm>
        </p:spPr>
        <p:txBody>
          <a:bodyPr anchor="ctr">
            <a:normAutofit/>
          </a:bodyPr>
          <a:lstStyle/>
          <a:p>
            <a:r>
              <a:rPr lang="en-US" sz="4800"/>
              <a:t>Procedure Oriented Programming</a:t>
            </a:r>
          </a:p>
        </p:txBody>
      </p:sp>
      <p:sp>
        <p:nvSpPr>
          <p:cNvPr id="3" name="Content Placeholder 2">
            <a:extLst>
              <a:ext uri="{FF2B5EF4-FFF2-40B4-BE49-F238E27FC236}">
                <a16:creationId xmlns:a16="http://schemas.microsoft.com/office/drawing/2014/main" id="{D6C1261D-113C-4EF5-969A-335221943B2D}"/>
              </a:ext>
            </a:extLst>
          </p:cNvPr>
          <p:cNvSpPr>
            <a:spLocks noGrp="1"/>
          </p:cNvSpPr>
          <p:nvPr>
            <p:ph idx="1"/>
          </p:nvPr>
        </p:nvSpPr>
        <p:spPr>
          <a:xfrm>
            <a:off x="1045028" y="3017522"/>
            <a:ext cx="9941319" cy="3124658"/>
          </a:xfrm>
        </p:spPr>
        <p:txBody>
          <a:bodyPr anchor="ctr">
            <a:normAutofit/>
          </a:bodyPr>
          <a:lstStyle/>
          <a:p>
            <a:r>
              <a:rPr lang="en-US" sz="1900" dirty="0">
                <a:highlight>
                  <a:srgbClr val="FFFFFF"/>
                </a:highlight>
                <a:latin typeface="Söhne"/>
              </a:rPr>
              <a:t>Conventional programming language using high level language such as Cobol and C, is commonly known as Procedure Oriented Programming (POP). </a:t>
            </a:r>
          </a:p>
          <a:p>
            <a:r>
              <a:rPr lang="en-US" sz="1900" dirty="0">
                <a:highlight>
                  <a:srgbClr val="FFFFFF"/>
                </a:highlight>
                <a:latin typeface="Söhne"/>
              </a:rPr>
              <a:t>In Procedure Oriented Programming, the problem is viewed as a sequence of a thing to be done.</a:t>
            </a:r>
          </a:p>
          <a:p>
            <a:r>
              <a:rPr lang="en-US" sz="1900" dirty="0">
                <a:highlight>
                  <a:srgbClr val="FFFFFF"/>
                </a:highlight>
                <a:latin typeface="Söhne"/>
              </a:rPr>
              <a:t>The primary focus is on functions. </a:t>
            </a:r>
          </a:p>
          <a:p>
            <a:r>
              <a:rPr lang="en-US" sz="1900" dirty="0">
                <a:highlight>
                  <a:srgbClr val="FFFFFF"/>
                </a:highlight>
                <a:latin typeface="Söhne"/>
              </a:rPr>
              <a:t>Procedure Oriented Programming basically consists of writing a list of instructions for the computer to follow, and organizing these functions into groups known as functions.  </a:t>
            </a:r>
          </a:p>
          <a:p>
            <a:r>
              <a:rPr lang="en-US" sz="1900" dirty="0">
                <a:highlight>
                  <a:srgbClr val="FFFFFF"/>
                </a:highlight>
                <a:latin typeface="Söhne"/>
              </a:rPr>
              <a:t>In a multi-function program, many important data items are placed as global so that they may be accessed by all the functions. </a:t>
            </a:r>
          </a:p>
          <a:p>
            <a:r>
              <a:rPr lang="en-US" sz="1900" dirty="0">
                <a:highlight>
                  <a:srgbClr val="FFFFFF"/>
                </a:highlight>
                <a:latin typeface="Söhne"/>
              </a:rPr>
              <a:t>Each function may have its own local data.</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1847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5A9DAD-573B-E0F1-C008-536D20AE613D}"/>
              </a:ext>
            </a:extLst>
          </p:cNvPr>
          <p:cNvSpPr>
            <a:spLocks noGrp="1"/>
          </p:cNvSpPr>
          <p:nvPr>
            <p:ph type="title"/>
          </p:nvPr>
        </p:nvSpPr>
        <p:spPr>
          <a:xfrm>
            <a:off x="630936" y="640080"/>
            <a:ext cx="4818888" cy="1481328"/>
          </a:xfrm>
        </p:spPr>
        <p:txBody>
          <a:bodyPr anchor="b">
            <a:normAutofit/>
          </a:bodyPr>
          <a:lstStyle/>
          <a:p>
            <a:r>
              <a:rPr lang="en-US" sz="5000" dirty="0"/>
              <a:t>Introduction to OOPs</a:t>
            </a:r>
          </a:p>
        </p:txBody>
      </p:sp>
      <p:sp>
        <p:nvSpPr>
          <p:cNvPr id="4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FA91F7-0FB4-591F-9BE1-A6F5263F4558}"/>
              </a:ext>
            </a:extLst>
          </p:cNvPr>
          <p:cNvSpPr>
            <a:spLocks noGrp="1"/>
          </p:cNvSpPr>
          <p:nvPr>
            <p:ph idx="1"/>
          </p:nvPr>
        </p:nvSpPr>
        <p:spPr>
          <a:xfrm>
            <a:off x="630936" y="2660904"/>
            <a:ext cx="4818888" cy="3547872"/>
          </a:xfrm>
        </p:spPr>
        <p:txBody>
          <a:bodyPr anchor="t">
            <a:normAutofit/>
          </a:bodyPr>
          <a:lstStyle/>
          <a:p>
            <a:r>
              <a:rPr lang="en-US" sz="1800" dirty="0">
                <a:highlight>
                  <a:srgbClr val="FFFFFF"/>
                </a:highlight>
                <a:latin typeface="Times New Roman" panose="02020603050405020304" pitchFamily="18" charset="0"/>
                <a:cs typeface="Times New Roman" panose="02020603050405020304" pitchFamily="18" charset="0"/>
              </a:rPr>
              <a:t>Object-Oriented Programming (OOP) is a programming paradigm in computer science that relies on the concept of classes and objects</a:t>
            </a:r>
            <a:endParaRPr lang="en-US" sz="2200" dirty="0">
              <a:highlight>
                <a:srgbClr val="FFFFFF"/>
              </a:highlight>
              <a:latin typeface="Times New Roman" panose="02020603050405020304" pitchFamily="18" charset="0"/>
              <a:cs typeface="Times New Roman" panose="02020603050405020304" pitchFamily="18" charset="0"/>
            </a:endParaRPr>
          </a:p>
          <a:p>
            <a:r>
              <a:rPr lang="en-US" sz="1800" b="0" i="0" dirty="0">
                <a:effectLst/>
                <a:highlight>
                  <a:srgbClr val="FFFFFF"/>
                </a:highlight>
                <a:latin typeface="Times New Roman" panose="02020603050405020304" pitchFamily="18" charset="0"/>
                <a:cs typeface="Times New Roman" panose="02020603050405020304" pitchFamily="18" charset="0"/>
              </a:rPr>
              <a:t>It is used to structure a software program into simple, reusable pieces of code blueprints (usually called classes)</a:t>
            </a:r>
          </a:p>
          <a:p>
            <a:endParaRPr lang="en-US" sz="1800" dirty="0">
              <a:highlight>
                <a:srgbClr val="FFFFFF"/>
              </a:highlight>
              <a:latin typeface="Times New Roman" panose="02020603050405020304" pitchFamily="18" charset="0"/>
              <a:cs typeface="Times New Roman" panose="02020603050405020304" pitchFamily="18" charset="0"/>
            </a:endParaRPr>
          </a:p>
        </p:txBody>
      </p:sp>
      <p:pic>
        <p:nvPicPr>
          <p:cNvPr id="5" name="Picture 4" descr="A diagram of a diagram&#10;&#10;Description automatically generated">
            <a:extLst>
              <a:ext uri="{FF2B5EF4-FFF2-40B4-BE49-F238E27FC236}">
                <a16:creationId xmlns:a16="http://schemas.microsoft.com/office/drawing/2014/main" id="{58DC7C68-5164-D020-66BE-6803B3386069}"/>
              </a:ext>
            </a:extLst>
          </p:cNvPr>
          <p:cNvPicPr>
            <a:picLocks noChangeAspect="1"/>
          </p:cNvPicPr>
          <p:nvPr/>
        </p:nvPicPr>
        <p:blipFill rotWithShape="1">
          <a:blip r:embed="rId2">
            <a:extLst>
              <a:ext uri="{28A0092B-C50C-407E-A947-70E740481C1C}">
                <a14:useLocalDpi xmlns:a14="http://schemas.microsoft.com/office/drawing/2010/main" val="0"/>
              </a:ext>
            </a:extLst>
          </a:blip>
          <a:srcRect r="5" b="5"/>
          <a:stretch/>
        </p:blipFill>
        <p:spPr>
          <a:xfrm>
            <a:off x="6099048" y="699516"/>
            <a:ext cx="5458968" cy="5458968"/>
          </a:xfrm>
          <a:prstGeom prst="rect">
            <a:avLst/>
          </a:prstGeom>
        </p:spPr>
      </p:pic>
    </p:spTree>
    <p:extLst>
      <p:ext uri="{BB962C8B-B14F-4D97-AF65-F5344CB8AC3E}">
        <p14:creationId xmlns:p14="http://schemas.microsoft.com/office/powerpoint/2010/main" val="1572008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A0988B-26DF-C34C-2936-039AE6729802}"/>
              </a:ext>
            </a:extLst>
          </p:cNvPr>
          <p:cNvSpPr>
            <a:spLocks noGrp="1"/>
          </p:cNvSpPr>
          <p:nvPr>
            <p:ph type="title"/>
          </p:nvPr>
        </p:nvSpPr>
        <p:spPr>
          <a:xfrm>
            <a:off x="411480" y="991443"/>
            <a:ext cx="4443154" cy="1087819"/>
          </a:xfrm>
        </p:spPr>
        <p:txBody>
          <a:bodyPr anchor="b">
            <a:normAutofit/>
          </a:bodyPr>
          <a:lstStyle/>
          <a:p>
            <a:r>
              <a:rPr lang="en-US" sz="3400"/>
              <a:t>Class and object</a:t>
            </a:r>
          </a:p>
        </p:txBody>
      </p:sp>
      <p:sp>
        <p:nvSpPr>
          <p:cNvPr id="21" name="Rectangle 2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F516D1C-7A8F-736A-00A7-6C976C7D9362}"/>
              </a:ext>
            </a:extLst>
          </p:cNvPr>
          <p:cNvSpPr>
            <a:spLocks noGrp="1"/>
          </p:cNvSpPr>
          <p:nvPr>
            <p:ph idx="1"/>
          </p:nvPr>
        </p:nvSpPr>
        <p:spPr>
          <a:xfrm>
            <a:off x="411480" y="2684095"/>
            <a:ext cx="4443154" cy="3492868"/>
          </a:xfrm>
        </p:spPr>
        <p:txBody>
          <a:bodyPr>
            <a:normAutofit/>
          </a:bodyPr>
          <a:lstStyle/>
          <a:p>
            <a:r>
              <a:rPr lang="en-US" sz="1800" b="0" i="0">
                <a:effectLst/>
                <a:highlight>
                  <a:srgbClr val="FFFFFF"/>
                </a:highlight>
                <a:latin typeface="Söhne"/>
              </a:rPr>
              <a:t>A class is a user-defined data type in C++ that serves as a blueprint for creating objects. It encapsulates data (attributes) and functions (methods) that operate on that data.</a:t>
            </a:r>
          </a:p>
          <a:p>
            <a:r>
              <a:rPr lang="en-US" sz="1800" b="0" i="0">
                <a:effectLst/>
                <a:highlight>
                  <a:srgbClr val="FFFFFF"/>
                </a:highlight>
                <a:latin typeface="Söhne"/>
              </a:rPr>
              <a:t>An object is an instance of a class.</a:t>
            </a:r>
            <a:endParaRPr lang="en-US" sz="1800">
              <a:highlight>
                <a:srgbClr val="FFFFFF"/>
              </a:highlight>
              <a:latin typeface="Söhne"/>
            </a:endParaRPr>
          </a:p>
          <a:p>
            <a:endParaRPr lang="en-US" sz="1800"/>
          </a:p>
        </p:txBody>
      </p:sp>
      <p:pic>
        <p:nvPicPr>
          <p:cNvPr id="5" name="Picture 4" descr="A diagram of a model&#10;&#10;Description automatically generated with medium confidence">
            <a:extLst>
              <a:ext uri="{FF2B5EF4-FFF2-40B4-BE49-F238E27FC236}">
                <a16:creationId xmlns:a16="http://schemas.microsoft.com/office/drawing/2014/main" id="{0F937BE1-0FDA-B82A-6A29-518D54D24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8182" y="698836"/>
            <a:ext cx="7208058" cy="5167722"/>
          </a:xfrm>
          <a:prstGeom prst="rect">
            <a:avLst/>
          </a:prstGeom>
        </p:spPr>
      </p:pic>
    </p:spTree>
    <p:extLst>
      <p:ext uri="{BB962C8B-B14F-4D97-AF65-F5344CB8AC3E}">
        <p14:creationId xmlns:p14="http://schemas.microsoft.com/office/powerpoint/2010/main" val="3313006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5B4EDA-F4F8-3BA0-4E51-AB0FAEB589AB}"/>
              </a:ext>
            </a:extLst>
          </p:cNvPr>
          <p:cNvSpPr>
            <a:spLocks noGrp="1"/>
          </p:cNvSpPr>
          <p:nvPr>
            <p:ph type="title"/>
          </p:nvPr>
        </p:nvSpPr>
        <p:spPr>
          <a:xfrm>
            <a:off x="1043631" y="809898"/>
            <a:ext cx="9942716" cy="1554480"/>
          </a:xfrm>
        </p:spPr>
        <p:txBody>
          <a:bodyPr anchor="ctr">
            <a:normAutofit/>
          </a:bodyPr>
          <a:lstStyle/>
          <a:p>
            <a:r>
              <a:rPr lang="en-US" sz="4800" dirty="0"/>
              <a:t>Object Oriented Programming</a:t>
            </a:r>
          </a:p>
        </p:txBody>
      </p:sp>
      <p:sp>
        <p:nvSpPr>
          <p:cNvPr id="3" name="Content Placeholder 2">
            <a:extLst>
              <a:ext uri="{FF2B5EF4-FFF2-40B4-BE49-F238E27FC236}">
                <a16:creationId xmlns:a16="http://schemas.microsoft.com/office/drawing/2014/main" id="{01736311-0CF6-860B-9452-5CCB15184282}"/>
              </a:ext>
            </a:extLst>
          </p:cNvPr>
          <p:cNvSpPr>
            <a:spLocks noGrp="1"/>
          </p:cNvSpPr>
          <p:nvPr>
            <p:ph idx="1"/>
          </p:nvPr>
        </p:nvSpPr>
        <p:spPr>
          <a:xfrm>
            <a:off x="1045028" y="3017522"/>
            <a:ext cx="9941319" cy="3124658"/>
          </a:xfrm>
        </p:spPr>
        <p:txBody>
          <a:bodyPr anchor="ctr">
            <a:normAutofit/>
          </a:bodyPr>
          <a:lstStyle/>
          <a:p>
            <a:r>
              <a:rPr lang="en-US" sz="2400" dirty="0"/>
              <a:t>Object Oriented Programming is the most recent concept among programming model.</a:t>
            </a:r>
          </a:p>
          <a:p>
            <a:r>
              <a:rPr lang="en-US" sz="2400" dirty="0"/>
              <a:t> The motivating factor in the invention of object-oriented approach is to remove some of the flows encountered in the procedural approach.</a:t>
            </a:r>
          </a:p>
          <a:p>
            <a:r>
              <a:rPr lang="en-US" sz="2400" dirty="0"/>
              <a:t>It binds data more closely to the functions that operate on it and protects it from accidental modification from outside functions.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8261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0402BA-C9B8-BCCE-3F36-486365FECD02}"/>
              </a:ext>
            </a:extLst>
          </p:cNvPr>
          <p:cNvSpPr>
            <a:spLocks noGrp="1"/>
          </p:cNvSpPr>
          <p:nvPr>
            <p:ph type="title"/>
          </p:nvPr>
        </p:nvSpPr>
        <p:spPr>
          <a:xfrm>
            <a:off x="1043631" y="809898"/>
            <a:ext cx="9942716" cy="1554480"/>
          </a:xfrm>
        </p:spPr>
        <p:txBody>
          <a:bodyPr anchor="ctr">
            <a:normAutofit/>
          </a:bodyPr>
          <a:lstStyle/>
          <a:p>
            <a:r>
              <a:rPr lang="en-US" sz="4800"/>
              <a:t>Need of Object-Oriented Programming</a:t>
            </a:r>
          </a:p>
        </p:txBody>
      </p:sp>
      <p:sp>
        <p:nvSpPr>
          <p:cNvPr id="3" name="Content Placeholder 2">
            <a:extLst>
              <a:ext uri="{FF2B5EF4-FFF2-40B4-BE49-F238E27FC236}">
                <a16:creationId xmlns:a16="http://schemas.microsoft.com/office/drawing/2014/main" id="{79E37782-0596-5EE7-BEBF-050FDAF10351}"/>
              </a:ext>
            </a:extLst>
          </p:cNvPr>
          <p:cNvSpPr>
            <a:spLocks noGrp="1"/>
          </p:cNvSpPr>
          <p:nvPr>
            <p:ph idx="1"/>
          </p:nvPr>
        </p:nvSpPr>
        <p:spPr>
          <a:xfrm>
            <a:off x="1045028" y="3017522"/>
            <a:ext cx="9941319" cy="3124658"/>
          </a:xfrm>
        </p:spPr>
        <p:txBody>
          <a:bodyPr anchor="ctr">
            <a:normAutofit/>
          </a:bodyPr>
          <a:lstStyle/>
          <a:p>
            <a:r>
              <a:rPr lang="en-US" sz="2400"/>
              <a:t>Developments in software technology continue to be dynamic. New tools and techniques are announced in quick succession</a:t>
            </a:r>
          </a:p>
          <a:p>
            <a:r>
              <a:rPr lang="en-US" sz="2400"/>
              <a:t>This has forced the software engineers and industry to continuously look for new approaches to software design and development, and they are becoming more and more critical in view of the increasing complexity of software system as well as the highly competitive nature of the industry.</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113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530911-7F95-8D51-5CC1-AC123759C3E8}"/>
              </a:ext>
            </a:extLst>
          </p:cNvPr>
          <p:cNvSpPr>
            <a:spLocks noGrp="1"/>
          </p:cNvSpPr>
          <p:nvPr>
            <p:ph type="title"/>
          </p:nvPr>
        </p:nvSpPr>
        <p:spPr>
          <a:xfrm>
            <a:off x="838200" y="365125"/>
            <a:ext cx="10515600" cy="1325563"/>
          </a:xfrm>
        </p:spPr>
        <p:txBody>
          <a:bodyPr>
            <a:normAutofit/>
          </a:bodyPr>
          <a:lstStyle/>
          <a:p>
            <a:r>
              <a:rPr lang="en-US" dirty="0"/>
              <a:t>features of Object-Oriented Programming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8A25B08-7B47-B2AA-BEF3-6D91603DC81A}"/>
              </a:ext>
            </a:extLst>
          </p:cNvPr>
          <p:cNvSpPr>
            <a:spLocks noGrp="1"/>
          </p:cNvSpPr>
          <p:nvPr>
            <p:ph idx="1"/>
          </p:nvPr>
        </p:nvSpPr>
        <p:spPr>
          <a:xfrm>
            <a:off x="838200" y="1825625"/>
            <a:ext cx="10515600" cy="4351338"/>
          </a:xfrm>
        </p:spPr>
        <p:txBody>
          <a:bodyPr>
            <a:normAutofit/>
          </a:bodyPr>
          <a:lstStyle/>
          <a:p>
            <a:r>
              <a:rPr lang="en-US" sz="2400" b="0" i="0" dirty="0">
                <a:effectLst/>
                <a:highlight>
                  <a:srgbClr val="FFFFFF"/>
                </a:highlight>
                <a:latin typeface="Gilroy"/>
              </a:rPr>
              <a:t>Encapsulation is the bundling of data, and the methods that operate on that data, into a single unit called an object. </a:t>
            </a:r>
            <a:endParaRPr lang="en-US" sz="2400" dirty="0"/>
          </a:p>
          <a:p>
            <a:r>
              <a:rPr lang="en-US" sz="2400" b="0" i="0" dirty="0">
                <a:effectLst/>
                <a:highlight>
                  <a:srgbClr val="FFFFFF"/>
                </a:highlight>
                <a:latin typeface="Gilroy"/>
              </a:rPr>
              <a:t>Inheritance is a feature that allows one class (the child class) to inherit the properties and methods of another class (the parent class). </a:t>
            </a:r>
            <a:endParaRPr lang="en-US" sz="2400" dirty="0"/>
          </a:p>
          <a:p>
            <a:r>
              <a:rPr lang="en-US" sz="2400" b="0" i="0" dirty="0">
                <a:effectLst/>
                <a:highlight>
                  <a:srgbClr val="FFFFFF"/>
                </a:highlight>
                <a:latin typeface="Gilroy"/>
              </a:rPr>
              <a:t>Polymorphism is a feature that allows one interface to be used for a general class of actions. This means that the exact method that gets called is determined at runtime, not at compile time. </a:t>
            </a:r>
          </a:p>
          <a:p>
            <a:r>
              <a:rPr lang="en-US" sz="2400" b="0" i="0" dirty="0">
                <a:effectLst/>
                <a:highlight>
                  <a:srgbClr val="FFFFFF"/>
                </a:highlight>
                <a:latin typeface="Gilroy"/>
              </a:rPr>
              <a:t>Abstraction is a feature that allows complex real-world problems to be simplified by modelling them in a way that captures only the relevant details.</a:t>
            </a:r>
            <a:endParaRPr lang="en-US" sz="2400" dirty="0"/>
          </a:p>
        </p:txBody>
      </p:sp>
    </p:spTree>
    <p:extLst>
      <p:ext uri="{BB962C8B-B14F-4D97-AF65-F5344CB8AC3E}">
        <p14:creationId xmlns:p14="http://schemas.microsoft.com/office/powerpoint/2010/main" val="1920795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8FABCB-72C9-6B58-578C-EB66A0307FB0}"/>
              </a:ext>
            </a:extLst>
          </p:cNvPr>
          <p:cNvSpPr>
            <a:spLocks noGrp="1"/>
          </p:cNvSpPr>
          <p:nvPr>
            <p:ph type="title"/>
          </p:nvPr>
        </p:nvSpPr>
        <p:spPr>
          <a:xfrm>
            <a:off x="0" y="891652"/>
            <a:ext cx="5430982" cy="3030724"/>
          </a:xfrm>
        </p:spPr>
        <p:txBody>
          <a:bodyPr vert="horz" lIns="91440" tIns="45720" rIns="91440" bIns="45720" rtlCol="0" anchor="b">
            <a:normAutofit/>
          </a:bodyPr>
          <a:lstStyle/>
          <a:p>
            <a:r>
              <a:rPr lang="en-US" sz="4000" kern="1200" dirty="0">
                <a:solidFill>
                  <a:srgbClr val="FFFFFF"/>
                </a:solidFill>
                <a:latin typeface="+mj-lt"/>
                <a:ea typeface="+mj-ea"/>
                <a:cs typeface="+mj-cs"/>
              </a:rPr>
              <a:t>Comparison of Procedural and Object-Oriented Approach</a:t>
            </a:r>
          </a:p>
        </p:txBody>
      </p:sp>
      <p:pic>
        <p:nvPicPr>
          <p:cNvPr id="5" name="Content Placeholder 4" descr="A white rectangular box with black text&#10;&#10;Description automatically generated">
            <a:extLst>
              <a:ext uri="{FF2B5EF4-FFF2-40B4-BE49-F238E27FC236}">
                <a16:creationId xmlns:a16="http://schemas.microsoft.com/office/drawing/2014/main" id="{7D903429-1F39-2DF5-FA7B-BB1FB1E353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7264" y="10141"/>
            <a:ext cx="4925791" cy="6847856"/>
          </a:xfrm>
          <a:prstGeom prst="rect">
            <a:avLst/>
          </a:prstGeom>
        </p:spPr>
      </p:pic>
    </p:spTree>
    <p:extLst>
      <p:ext uri="{BB962C8B-B14F-4D97-AF65-F5344CB8AC3E}">
        <p14:creationId xmlns:p14="http://schemas.microsoft.com/office/powerpoint/2010/main" val="2107336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3F353A-D5CE-DC31-6F9A-BF6340D65A4E}"/>
              </a:ext>
            </a:extLst>
          </p:cNvPr>
          <p:cNvSpPr>
            <a:spLocks noGrp="1"/>
          </p:cNvSpPr>
          <p:nvPr>
            <p:ph type="title"/>
          </p:nvPr>
        </p:nvSpPr>
        <p:spPr>
          <a:xfrm>
            <a:off x="1043631" y="809898"/>
            <a:ext cx="9942716" cy="1554480"/>
          </a:xfrm>
        </p:spPr>
        <p:txBody>
          <a:bodyPr anchor="ctr">
            <a:normAutofit/>
          </a:bodyPr>
          <a:lstStyle/>
          <a:p>
            <a:r>
              <a:rPr lang="en-US" sz="4800"/>
              <a:t>Advantages of OOPs</a:t>
            </a:r>
          </a:p>
        </p:txBody>
      </p:sp>
      <p:sp>
        <p:nvSpPr>
          <p:cNvPr id="3" name="Content Placeholder 2">
            <a:extLst>
              <a:ext uri="{FF2B5EF4-FFF2-40B4-BE49-F238E27FC236}">
                <a16:creationId xmlns:a16="http://schemas.microsoft.com/office/drawing/2014/main" id="{869CC168-77C9-B377-E046-BAB55685F0FE}"/>
              </a:ext>
            </a:extLst>
          </p:cNvPr>
          <p:cNvSpPr>
            <a:spLocks noGrp="1"/>
          </p:cNvSpPr>
          <p:nvPr>
            <p:ph idx="1"/>
          </p:nvPr>
        </p:nvSpPr>
        <p:spPr>
          <a:xfrm>
            <a:off x="1045028" y="3017522"/>
            <a:ext cx="9941319" cy="3124658"/>
          </a:xfrm>
        </p:spPr>
        <p:txBody>
          <a:bodyPr anchor="ctr">
            <a:normAutofit/>
          </a:bodyPr>
          <a:lstStyle/>
          <a:p>
            <a:r>
              <a:rPr lang="en-US" sz="1700"/>
              <a:t>Code reusability in terms of inheritance.</a:t>
            </a:r>
          </a:p>
          <a:p>
            <a:r>
              <a:rPr lang="en-US" sz="1700"/>
              <a:t>Object-oriented system can be easily upgraded from one platform to another.</a:t>
            </a:r>
          </a:p>
          <a:p>
            <a:r>
              <a:rPr lang="en-US" sz="1700"/>
              <a:t>Complex projects can be easily divided into small code functions. </a:t>
            </a:r>
          </a:p>
          <a:p>
            <a:r>
              <a:rPr lang="en-US" sz="1700"/>
              <a:t>The principle of abstraction and encapsulation enables a programmer to build secure programs.</a:t>
            </a:r>
          </a:p>
          <a:p>
            <a:r>
              <a:rPr lang="en-US" sz="1700"/>
              <a:t>Software complexity decreases.</a:t>
            </a:r>
          </a:p>
          <a:p>
            <a:r>
              <a:rPr lang="en-US" sz="1700"/>
              <a:t>Principle of data hiding helps programmer to design and develop safe programs. </a:t>
            </a:r>
          </a:p>
          <a:p>
            <a:r>
              <a:rPr lang="en-US" sz="1700"/>
              <a:t>Rapid development of software can be done is short span of time.</a:t>
            </a:r>
          </a:p>
          <a:p>
            <a:r>
              <a:rPr lang="en-US" sz="1700"/>
              <a:t>More than one instance of same class can exist together without any interference.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529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2CE8D-9D83-2651-C00F-4C18B2B48932}"/>
              </a:ext>
            </a:extLst>
          </p:cNvPr>
          <p:cNvSpPr>
            <a:spLocks noGrp="1"/>
          </p:cNvSpPr>
          <p:nvPr>
            <p:ph type="title"/>
          </p:nvPr>
        </p:nvSpPr>
        <p:spPr>
          <a:xfrm>
            <a:off x="1043631" y="809898"/>
            <a:ext cx="9942716" cy="1554480"/>
          </a:xfrm>
        </p:spPr>
        <p:txBody>
          <a:bodyPr anchor="ctr">
            <a:normAutofit/>
          </a:bodyPr>
          <a:lstStyle/>
          <a:p>
            <a:r>
              <a:rPr lang="en-US" sz="4800"/>
              <a:t>Disadvantages of OOP</a:t>
            </a:r>
          </a:p>
        </p:txBody>
      </p:sp>
      <p:sp>
        <p:nvSpPr>
          <p:cNvPr id="3" name="Content Placeholder 2">
            <a:extLst>
              <a:ext uri="{FF2B5EF4-FFF2-40B4-BE49-F238E27FC236}">
                <a16:creationId xmlns:a16="http://schemas.microsoft.com/office/drawing/2014/main" id="{0B6878FB-FA36-75A1-8632-ED2A601C656C}"/>
              </a:ext>
            </a:extLst>
          </p:cNvPr>
          <p:cNvSpPr>
            <a:spLocks noGrp="1"/>
          </p:cNvSpPr>
          <p:nvPr>
            <p:ph idx="1"/>
          </p:nvPr>
        </p:nvSpPr>
        <p:spPr>
          <a:xfrm>
            <a:off x="1045028" y="3017522"/>
            <a:ext cx="9941319" cy="3124658"/>
          </a:xfrm>
        </p:spPr>
        <p:txBody>
          <a:bodyPr anchor="ctr">
            <a:normAutofit/>
          </a:bodyPr>
          <a:lstStyle/>
          <a:p>
            <a:r>
              <a:rPr lang="en-US" sz="2400"/>
              <a:t>It is not suitable for all types of problems.</a:t>
            </a:r>
          </a:p>
          <a:p>
            <a:r>
              <a:rPr lang="en-US" sz="2400"/>
              <a:t>OOPS can make the code harder to understand, debug, and test</a:t>
            </a:r>
          </a:p>
          <a:p>
            <a:r>
              <a:rPr lang="en-US" sz="2400"/>
              <a:t>consume more CPU resources than other paradigms, such as procedural.</a:t>
            </a:r>
          </a:p>
          <a:p>
            <a:r>
              <a:rPr lang="en-US" sz="2400"/>
              <a:t>Difficult to learn</a:t>
            </a:r>
          </a:p>
          <a:p>
            <a:pPr marL="0" indent="0">
              <a:buNone/>
            </a:pP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69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667842-C9AB-567D-3391-BBE331AB0CB2}"/>
              </a:ext>
            </a:extLst>
          </p:cNvPr>
          <p:cNvSpPr>
            <a:spLocks noGrp="1"/>
          </p:cNvSpPr>
          <p:nvPr>
            <p:ph type="title"/>
          </p:nvPr>
        </p:nvSpPr>
        <p:spPr>
          <a:xfrm>
            <a:off x="1043631" y="809898"/>
            <a:ext cx="9942716" cy="1554480"/>
          </a:xfrm>
        </p:spPr>
        <p:txBody>
          <a:bodyPr anchor="ctr">
            <a:normAutofit/>
          </a:bodyPr>
          <a:lstStyle/>
          <a:p>
            <a:r>
              <a:rPr lang="en-US" sz="4800"/>
              <a:t>Application of OOPs</a:t>
            </a:r>
          </a:p>
        </p:txBody>
      </p:sp>
      <p:sp>
        <p:nvSpPr>
          <p:cNvPr id="3" name="Content Placeholder 2">
            <a:extLst>
              <a:ext uri="{FF2B5EF4-FFF2-40B4-BE49-F238E27FC236}">
                <a16:creationId xmlns:a16="http://schemas.microsoft.com/office/drawing/2014/main" id="{247B85D9-E6DE-4D71-EB78-4CEC82B45E1B}"/>
              </a:ext>
            </a:extLst>
          </p:cNvPr>
          <p:cNvSpPr>
            <a:spLocks noGrp="1"/>
          </p:cNvSpPr>
          <p:nvPr>
            <p:ph idx="1"/>
          </p:nvPr>
        </p:nvSpPr>
        <p:spPr>
          <a:xfrm>
            <a:off x="1045028" y="3017522"/>
            <a:ext cx="9941319" cy="3124658"/>
          </a:xfrm>
        </p:spPr>
        <p:txBody>
          <a:bodyPr anchor="ctr">
            <a:normAutofit/>
          </a:bodyPr>
          <a:lstStyle/>
          <a:p>
            <a:r>
              <a:rPr lang="en-US" sz="1100"/>
              <a:t>Image Processing</a:t>
            </a:r>
          </a:p>
          <a:p>
            <a:r>
              <a:rPr lang="en-US" sz="1100"/>
              <a:t>Pattern Recognition</a:t>
            </a:r>
          </a:p>
          <a:p>
            <a:r>
              <a:rPr lang="en-US" sz="1100"/>
              <a:t>Computer Aided Design and Manufacturing</a:t>
            </a:r>
          </a:p>
          <a:p>
            <a:r>
              <a:rPr lang="en-US" sz="1100"/>
              <a:t>Computer Aided Teaching </a:t>
            </a:r>
          </a:p>
          <a:p>
            <a:r>
              <a:rPr lang="en-US" sz="1100"/>
              <a:t>Intelligent Systems </a:t>
            </a:r>
          </a:p>
          <a:p>
            <a:r>
              <a:rPr lang="en-US" sz="1100"/>
              <a:t>Database Management Systems</a:t>
            </a:r>
          </a:p>
          <a:p>
            <a:r>
              <a:rPr lang="en-US" sz="1100"/>
              <a:t> Web-based Applications </a:t>
            </a:r>
          </a:p>
          <a:p>
            <a:r>
              <a:rPr lang="en-US" sz="1100"/>
              <a:t>Distributed Computing and Applications</a:t>
            </a:r>
          </a:p>
          <a:p>
            <a:r>
              <a:rPr lang="en-US" sz="1100"/>
              <a:t>Data security and management </a:t>
            </a:r>
          </a:p>
          <a:p>
            <a:r>
              <a:rPr lang="en-US" sz="1100"/>
              <a:t>Mobile Computing </a:t>
            </a:r>
          </a:p>
          <a:p>
            <a:r>
              <a:rPr lang="en-US" sz="1100"/>
              <a:t>Parallel Computing</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664CE8-013B-DF9D-A2EC-A9BDE35DC7E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Thanks </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3745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992</Words>
  <Application>Microsoft Office PowerPoint</Application>
  <PresentationFormat>Widescreen</PresentationFormat>
  <Paragraphs>93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Aptos Display</vt:lpstr>
      <vt:lpstr>Arial</vt:lpstr>
      <vt:lpstr>Calibri</vt:lpstr>
      <vt:lpstr>Gilroy</vt:lpstr>
      <vt:lpstr>Söhne</vt:lpstr>
      <vt:lpstr>Times New Roman</vt:lpstr>
      <vt:lpstr>Office Theme</vt:lpstr>
      <vt:lpstr>Ministry of Higher Education Kabul university  faculty of  Information &amp; communication technology</vt:lpstr>
      <vt:lpstr>Overview</vt:lpstr>
      <vt:lpstr>History</vt:lpstr>
      <vt:lpstr>What is C++?</vt:lpstr>
      <vt:lpstr>Why Learn C++?</vt:lpstr>
      <vt:lpstr>Key Features</vt:lpstr>
      <vt:lpstr>Applications of C++ </vt:lpstr>
      <vt:lpstr>Procedure Oriented Programming</vt:lpstr>
      <vt:lpstr>Introduction to OOPs</vt:lpstr>
      <vt:lpstr>Class and object</vt:lpstr>
      <vt:lpstr>Object Oriented Programming</vt:lpstr>
      <vt:lpstr>Need of Object-Oriented Programming</vt:lpstr>
      <vt:lpstr>features of Object-Oriented Programming</vt:lpstr>
      <vt:lpstr>Comparison of Procedural and Object-Oriented Approach</vt:lpstr>
      <vt:lpstr>Advantages of OOPs</vt:lpstr>
      <vt:lpstr>Disadvantages of OOP</vt:lpstr>
      <vt:lpstr>Application of OOPs</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Ministry of Higher Education Kabul university  faculty of  Information and &amp; communication technology</dc:title>
  <dc:creator>NTSPC</dc:creator>
  <cp:lastModifiedBy>Project Project</cp:lastModifiedBy>
  <cp:revision>7</cp:revision>
  <dcterms:created xsi:type="dcterms:W3CDTF">2024-05-05T12:48:45Z</dcterms:created>
  <dcterms:modified xsi:type="dcterms:W3CDTF">2025-03-07T08:34:26Z</dcterms:modified>
</cp:coreProperties>
</file>