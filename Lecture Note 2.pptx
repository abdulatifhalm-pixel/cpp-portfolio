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60" r:id="rId4"/>
    <p:sldId id="261" r:id="rId5"/>
    <p:sldId id="262" r:id="rId6"/>
    <p:sldId id="263" r:id="rId7"/>
    <p:sldId id="268" r:id="rId8"/>
    <p:sldId id="269" r:id="rId9"/>
    <p:sldId id="270" r:id="rId10"/>
    <p:sldId id="274" r:id="rId11"/>
    <p:sldId id="271" r:id="rId12"/>
    <p:sldId id="272" r:id="rId13"/>
    <p:sldId id="273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364D-5C74-2CEE-66D8-B925516D9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FA64B-3277-2266-A29F-B6A93EF6A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041FD-908E-9501-0863-7CBB1C85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0CF8-F610-4755-C6A8-3A3E64C08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90C89-5B95-1278-6F81-E1C3D2EE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8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1452-6E5A-2A00-89AA-AE1EFA64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0F3A-15FC-61BC-6671-082FB20F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6356C-CE1D-6378-7C19-70FC6E5D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3F708-E5BC-E84F-8A4B-23305E0A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77318-7A4C-4AC0-E747-052719B3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51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F395-BA5F-EA05-4C89-1FD1235E0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1D488-AD63-EA68-8355-F5982827A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825C7-EA5E-131E-4FF9-F2285F22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C48F-F5E1-EC36-FA64-CECDD360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56380-425C-F743-D6D2-0470CFB0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0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BF61-B352-2AA1-1BE3-B3CD1654A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9419-81AB-F35D-00CF-08515D565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DEB44-84E8-86B0-6C33-3820681F6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1F872-5F82-55C8-3332-E15B41C5A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49EE6-1FBF-3D92-D695-35E12627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9272D-95A8-493A-3F1C-54B3BC56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0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70A1-0C2D-C3AB-2D4D-4C1CF863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ED86B-8C50-3607-6A62-E562191DC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CCED9-C9B3-C9D0-2829-7FF19E866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E5471A-DE80-5054-B151-792F4BFDA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3C5A3-8AC0-9BA9-C553-7925927EB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8C37B-5953-CEF7-362F-1C3514F0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E46FF-6928-7C8E-5A6C-425BDF34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38C10-D59D-4F4A-ACA4-4C1A60936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6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28D4F-2DE8-6D1B-FF9D-3EFBD68E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69337-B0F1-6DD7-E8EE-9F134EE3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702D3F-6276-CD0A-BDE6-6E801EF85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F989A-DA9F-C4E9-559A-109BBC2A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9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1D6C1-EE84-6912-8D6C-0C684199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F2DC7-1BFA-66E0-37AC-C2BA0607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4B0C1-C603-6E10-3220-562B572A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3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2D1D-3507-4F94-54CA-D4B3EE392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559CF-AD80-62CC-EF85-40640C31C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35E04-048A-DA86-5BD4-8E645617C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7CD03-C867-38DB-B720-9B349AAE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3008B-E682-76FC-4312-6B7AEFBD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CE128-A2C8-101C-84F1-8B87E2D8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00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A616-C1D3-8BC6-3158-9FFAEA3D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3C0015-1901-5779-3EE0-FD3116B12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FC651-A7E9-9157-E05B-4B836A453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F1995-0AA4-6B4A-72D0-3142D9115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CEEED-F57C-CEDD-2F28-23A66327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FDD11-6C5F-1D4B-584B-94446550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0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4072-BD65-964C-909D-0F7EC532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03166-5321-B0DA-9F7C-A8F56D0BE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5BAEC-C870-C173-B6DA-BE57A715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3F0D4-A530-52B6-5D90-B158D183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51ABF-E87C-466E-509A-8DC70DDD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4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1278E-B38F-3F5D-8F0A-23B7068ED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A2227-0A1A-C393-D65D-FBC17918F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4E08E-3758-53B6-E6CD-AE6D686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C2D53-5C3C-E3A7-369F-107AEB38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7A3E-73E0-D21E-B0E2-A5F6143B6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36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7F2D54-4022-7007-7060-2D48E315B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AC60D-044D-98AA-565D-176B1E1E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1CF59-726D-B16A-FD10-C216626F9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8BD5E-8C89-4D50-9384-EB74938E444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E254A-BC82-0FF9-6370-8B54DF33E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1274B-3D6F-27D7-BC8A-0F29A5F1D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452983-7702-4EE1-8D21-351B6E890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4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9191-12B1-EA9C-0A7F-3B951B06A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717" y="533400"/>
            <a:ext cx="9144000" cy="3935787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Higher Education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Kabul university 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&amp; communication technology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1DE93-4174-46D4-CFF4-F349E3354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717" y="4668838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1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D4A6-0457-0F1A-37EB-B395D85B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FB29D-4DBB-77F0-6078-9DF6AB043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What is a program?</a:t>
            </a:r>
          </a:p>
          <a:p>
            <a:pPr>
              <a:defRPr/>
            </a:pPr>
            <a:r>
              <a:rPr lang="en-US" altLang="en-US" sz="2800" dirty="0"/>
              <a:t>Programming Languages</a:t>
            </a:r>
          </a:p>
          <a:p>
            <a:pPr>
              <a:defRPr/>
            </a:pPr>
            <a:r>
              <a:rPr lang="en-US" altLang="en-US" dirty="0"/>
              <a:t>Compilers</a:t>
            </a:r>
          </a:p>
          <a:p>
            <a:pPr>
              <a:defRPr/>
            </a:pPr>
            <a:r>
              <a:rPr lang="en-US" altLang="en-US" sz="2800" dirty="0"/>
              <a:t>C++ program</a:t>
            </a:r>
          </a:p>
          <a:p>
            <a:pPr>
              <a:defRPr/>
            </a:pPr>
            <a:r>
              <a:rPr lang="en-US" altLang="en-US" sz="2800" dirty="0"/>
              <a:t>Layout of a C++ Program</a:t>
            </a:r>
          </a:p>
          <a:p>
            <a:pPr>
              <a:defRPr/>
            </a:pPr>
            <a:r>
              <a:rPr lang="en-US" altLang="en-US" sz="2800" dirty="0"/>
              <a:t>Sample C++ Program</a:t>
            </a:r>
          </a:p>
          <a:p>
            <a:pPr>
              <a:defRPr/>
            </a:pPr>
            <a:r>
              <a:rPr lang="en-US" altLang="en-US" sz="2800" dirty="0"/>
              <a:t>Testing and Debugging</a:t>
            </a:r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sz="2800" dirty="0"/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3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>
            <a:extLst>
              <a:ext uri="{FF2B5EF4-FFF2-40B4-BE49-F238E27FC236}">
                <a16:creationId xmlns:a16="http://schemas.microsoft.com/office/drawing/2014/main" id="{18DE6D2E-2E52-4115-B5E2-AC62A02A8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2057401"/>
            <a:ext cx="7704138" cy="3332163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/>
              <a:t>A program is set of instructions for a computer to follow</a:t>
            </a:r>
          </a:p>
          <a:p>
            <a:pPr eaLnBrk="1" fontAlgn="auto" hangingPunct="1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/>
              <a:t>Whenever we give a computer both a </a:t>
            </a:r>
            <a:r>
              <a:rPr lang="en-US" altLang="en-US" dirty="0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</a:t>
            </a:r>
            <a:r>
              <a:rPr lang="en-US" altLang="en-US" dirty="0"/>
              <a:t> to follow and some </a:t>
            </a:r>
            <a:r>
              <a:rPr lang="en-US" altLang="en-US" dirty="0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data</a:t>
            </a:r>
            <a:r>
              <a:rPr lang="en-US" altLang="en-US" dirty="0"/>
              <a:t> for the program, we are said to be </a:t>
            </a:r>
            <a:r>
              <a:rPr lang="en-US" altLang="en-US" b="1" dirty="0"/>
              <a:t>running</a:t>
            </a:r>
            <a:r>
              <a:rPr lang="en-US" altLang="en-US" dirty="0"/>
              <a:t> the program on the data, and the computer is said to </a:t>
            </a:r>
            <a:r>
              <a:rPr lang="en-US" altLang="en-US" b="1" dirty="0"/>
              <a:t>execute</a:t>
            </a:r>
            <a:r>
              <a:rPr lang="en-US" altLang="en-US" dirty="0"/>
              <a:t> the program on the data.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269C84-FEEE-4939-AFC1-518C1A74F935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What is a program?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6ACD60E2-C88F-4AFD-AE82-5F10041D76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4601" y="2286000"/>
            <a:ext cx="7929563" cy="41148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dirty="0"/>
              <a:t>High Level Languages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dirty="0"/>
              <a:t>C++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dirty="0"/>
              <a:t>Java</a:t>
            </a:r>
            <a:endParaRPr lang="ar-SA" altLang="en-US" sz="2800" dirty="0"/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endParaRPr lang="en-US" altLang="en-US" sz="2800" dirty="0"/>
          </a:p>
          <a:p>
            <a:pPr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altLang="en-US" dirty="0"/>
              <a:t>Low Level Languages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dirty="0"/>
              <a:t>Assembly Language</a:t>
            </a:r>
          </a:p>
          <a:p>
            <a:pPr lvl="2" eaLnBrk="1" fontAlgn="auto" hangingPunct="1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sz="2800" dirty="0"/>
              <a:t>   Add X Y Z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800" dirty="0"/>
              <a:t>Machine Language </a:t>
            </a:r>
          </a:p>
          <a:p>
            <a:pPr lvl="2" eaLnBrk="1" fontAlgn="auto" hangingPunct="1">
              <a:buClr>
                <a:schemeClr val="accent1">
                  <a:lumMod val="75000"/>
                </a:schemeClr>
              </a:buClr>
              <a:defRPr/>
            </a:pPr>
            <a:r>
              <a:rPr lang="en-US" altLang="en-US" sz="2800" dirty="0"/>
              <a:t>   00011101</a:t>
            </a:r>
          </a:p>
          <a:p>
            <a:pPr eaLnBrk="1" fontAlgn="auto" hangingPunct="1">
              <a:buClr>
                <a:schemeClr val="accent1">
                  <a:lumMod val="75000"/>
                </a:schemeClr>
              </a:buClr>
              <a:buFont typeface="Symbol" panose="05050102010706020507" pitchFamily="18" charset="2"/>
              <a:buNone/>
              <a:defRPr/>
            </a:pPr>
            <a:endParaRPr lang="en-US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651B1A5-3963-4C10-AAE9-F2F63F35ADB6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Programming Languages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>
            <a:extLst>
              <a:ext uri="{FF2B5EF4-FFF2-40B4-BE49-F238E27FC236}">
                <a16:creationId xmlns:a16="http://schemas.microsoft.com/office/drawing/2014/main" id="{C384A8DD-576A-4575-9D9B-2322518738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9768" y="1828801"/>
            <a:ext cx="7704138" cy="33321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ar-SA" altLang="en-US" dirty="0"/>
              <a:t>   </a:t>
            </a:r>
            <a:r>
              <a:rPr lang="en-US" altLang="en-US" dirty="0"/>
              <a:t>Programs that translate a high-level language like C++ to a machine-language that the computer can directly understand and execute.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AD2620C-A0AC-49E5-B9AA-83660E91C49D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Compilers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Oval 4">
            <a:extLst>
              <a:ext uri="{FF2B5EF4-FFF2-40B4-BE49-F238E27FC236}">
                <a16:creationId xmlns:a16="http://schemas.microsoft.com/office/drawing/2014/main" id="{C482EC2C-894E-4E29-AD17-8E2813B23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76400"/>
            <a:ext cx="1981200" cy="1066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C++ program</a:t>
            </a:r>
          </a:p>
          <a:p>
            <a:pPr algn="ctr" eaLnBrk="1" hangingPunct="1"/>
            <a:r>
              <a:rPr lang="en-US" altLang="en-US"/>
              <a:t>Source Code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D093A46C-1E92-4A3C-B8F5-1B4E564F4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200400"/>
            <a:ext cx="1676400" cy="6858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4" name="Text Box 6">
            <a:extLst>
              <a:ext uri="{FF2B5EF4-FFF2-40B4-BE49-F238E27FC236}">
                <a16:creationId xmlns:a16="http://schemas.microsoft.com/office/drawing/2014/main" id="{77232C78-02B9-4531-93ED-D3620FC48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3276600"/>
            <a:ext cx="10550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Compiler</a:t>
            </a:r>
          </a:p>
        </p:txBody>
      </p:sp>
      <p:sp>
        <p:nvSpPr>
          <p:cNvPr id="15365" name="Oval 7">
            <a:extLst>
              <a:ext uri="{FF2B5EF4-FFF2-40B4-BE49-F238E27FC236}">
                <a16:creationId xmlns:a16="http://schemas.microsoft.com/office/drawing/2014/main" id="{2E5E4118-E5C3-460C-AFDC-7CA34F974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876800"/>
            <a:ext cx="24384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6" name="Oval 8">
            <a:extLst>
              <a:ext uri="{FF2B5EF4-FFF2-40B4-BE49-F238E27FC236}">
                <a16:creationId xmlns:a16="http://schemas.microsoft.com/office/drawing/2014/main" id="{7A49925D-EC69-4092-8333-766CE2146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200400"/>
            <a:ext cx="2286000" cy="1219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7" name="Oval 9">
            <a:extLst>
              <a:ext uri="{FF2B5EF4-FFF2-40B4-BE49-F238E27FC236}">
                <a16:creationId xmlns:a16="http://schemas.microsoft.com/office/drawing/2014/main" id="{E11A37A3-432F-4FD9-8D59-5C28310FB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162300"/>
            <a:ext cx="2133600" cy="1905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algn="ctr" eaLnBrk="1" hangingPunct="1"/>
            <a:r>
              <a:rPr lang="en-US" altLang="en-US" smtClean="0"/>
              <a:t>.exe</a:t>
            </a:r>
            <a:endParaRPr lang="en-US" altLang="en-US"/>
          </a:p>
        </p:txBody>
      </p:sp>
      <p:sp>
        <p:nvSpPr>
          <p:cNvPr id="15368" name="Rectangle 10">
            <a:extLst>
              <a:ext uri="{FF2B5EF4-FFF2-40B4-BE49-F238E27FC236}">
                <a16:creationId xmlns:a16="http://schemas.microsoft.com/office/drawing/2014/main" id="{C69D89A6-DBD1-4446-B2C5-1F2E7AD09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334000"/>
            <a:ext cx="1676400" cy="533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69" name="Text Box 11">
            <a:extLst>
              <a:ext uri="{FF2B5EF4-FFF2-40B4-BE49-F238E27FC236}">
                <a16:creationId xmlns:a16="http://schemas.microsoft.com/office/drawing/2014/main" id="{23B263A8-D4F7-43EF-9877-C1FEFD5F1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1" y="4953001"/>
            <a:ext cx="23018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en-US" dirty="0"/>
              <a:t>Object code for C++ program</a:t>
            </a:r>
          </a:p>
        </p:txBody>
      </p:sp>
      <p:sp>
        <p:nvSpPr>
          <p:cNvPr id="15370" name="Text Box 12">
            <a:extLst>
              <a:ext uri="{FF2B5EF4-FFF2-40B4-BE49-F238E27FC236}">
                <a16:creationId xmlns:a16="http://schemas.microsoft.com/office/drawing/2014/main" id="{E4A67091-C513-4602-97AC-AFA3EE19E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5334000"/>
            <a:ext cx="7797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Linker</a:t>
            </a:r>
          </a:p>
        </p:txBody>
      </p:sp>
      <p:sp>
        <p:nvSpPr>
          <p:cNvPr id="15371" name="Text Box 13">
            <a:extLst>
              <a:ext uri="{FF2B5EF4-FFF2-40B4-BE49-F238E27FC236}">
                <a16:creationId xmlns:a16="http://schemas.microsoft.com/office/drawing/2014/main" id="{BB5AAC46-3F41-441D-8B0C-F5631F506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900" y="3444876"/>
            <a:ext cx="1981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en-US"/>
              <a:t>Object code for other routines</a:t>
            </a:r>
          </a:p>
        </p:txBody>
      </p:sp>
      <p:sp>
        <p:nvSpPr>
          <p:cNvPr id="15372" name="Line 14">
            <a:extLst>
              <a:ext uri="{FF2B5EF4-FFF2-40B4-BE49-F238E27FC236}">
                <a16:creationId xmlns:a16="http://schemas.microsoft.com/office/drawing/2014/main" id="{34346FC9-296A-4D72-A27C-4C8D488320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362200"/>
            <a:ext cx="1295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3" name="Line 15">
            <a:extLst>
              <a:ext uri="{FF2B5EF4-FFF2-40B4-BE49-F238E27FC236}">
                <a16:creationId xmlns:a16="http://schemas.microsoft.com/office/drawing/2014/main" id="{6C77DE85-5471-4848-9926-4BD03E2C7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962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4" name="Line 16">
            <a:extLst>
              <a:ext uri="{FF2B5EF4-FFF2-40B4-BE49-F238E27FC236}">
                <a16:creationId xmlns:a16="http://schemas.microsoft.com/office/drawing/2014/main" id="{1FCF6638-306A-4FA2-86D6-1E2A85600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556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5" name="Line 17">
            <a:extLst>
              <a:ext uri="{FF2B5EF4-FFF2-40B4-BE49-F238E27FC236}">
                <a16:creationId xmlns:a16="http://schemas.microsoft.com/office/drawing/2014/main" id="{A598EC95-53BE-4309-9723-D3453C2BCA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48600" y="48006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6" name="Line 18">
            <a:extLst>
              <a:ext uri="{FF2B5EF4-FFF2-40B4-BE49-F238E27FC236}">
                <a16:creationId xmlns:a16="http://schemas.microsoft.com/office/drawing/2014/main" id="{DD84AB44-E415-45BF-9E9B-249F5EC75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4495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D621E308-08A2-495D-B4A6-88936ACFF6C5}"/>
              </a:ext>
            </a:extLst>
          </p:cNvPr>
          <p:cNvSpPr txBox="1">
            <a:spLocks noChangeArrowheads="1"/>
          </p:cNvSpPr>
          <p:nvPr/>
        </p:nvSpPr>
        <p:spPr>
          <a:xfrm>
            <a:off x="2590801" y="4191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900" dirty="0"/>
          </a:p>
          <a:p>
            <a:pPr>
              <a:defRPr/>
            </a:pPr>
            <a:r>
              <a:rPr lang="en-US" altLang="en-US" sz="3900" dirty="0"/>
              <a:t>Preparing a C++ program for</a:t>
            </a:r>
            <a:r>
              <a:rPr lang="ar-SA" altLang="en-US" sz="3900" dirty="0"/>
              <a:t> </a:t>
            </a:r>
            <a:r>
              <a:rPr lang="en-US" altLang="en-US" sz="3900" dirty="0"/>
              <a:t>Running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5">
            <a:extLst>
              <a:ext uri="{FF2B5EF4-FFF2-40B4-BE49-F238E27FC236}">
                <a16:creationId xmlns:a16="http://schemas.microsoft.com/office/drawing/2014/main" id="{CDBD782D-4113-4B16-9CB9-0670873FA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900" y="2382839"/>
            <a:ext cx="4876800" cy="4175125"/>
          </a:xfrm>
          <a:prstGeom prst="rect">
            <a:avLst/>
          </a:prstGeom>
          <a:solidFill>
            <a:schemeClr val="bg1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#include &lt;iostream&gt;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using namespace std;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int main()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{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	Variable_Declarations</a:t>
            </a:r>
          </a:p>
          <a:p>
            <a:pPr eaLnBrk="1" hangingPunct="1"/>
            <a:endParaRPr lang="en-US" altLang="en-US" i="1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	Statement_1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	Statement_2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	  …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	Statement_Last</a:t>
            </a:r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	return 0;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}</a:t>
            </a:r>
          </a:p>
          <a:p>
            <a:pPr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grpSp>
        <p:nvGrpSpPr>
          <p:cNvPr id="40966" name="Group 6">
            <a:extLst>
              <a:ext uri="{FF2B5EF4-FFF2-40B4-BE49-F238E27FC236}">
                <a16:creationId xmlns:a16="http://schemas.microsoft.com/office/drawing/2014/main" id="{E24F80A6-2209-40C2-A0D8-771A19C29AA6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715000"/>
            <a:ext cx="7475538" cy="838200"/>
            <a:chOff x="1008" y="3600"/>
            <a:chExt cx="4709" cy="528"/>
          </a:xfrm>
        </p:grpSpPr>
        <p:sp>
          <p:nvSpPr>
            <p:cNvPr id="20490" name="Rectangle 7">
              <a:extLst>
                <a:ext uri="{FF2B5EF4-FFF2-40B4-BE49-F238E27FC236}">
                  <a16:creationId xmlns:a16="http://schemas.microsoft.com/office/drawing/2014/main" id="{E6A5BE76-DEED-4341-B06F-3480F37C4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00"/>
              <a:ext cx="3072" cy="528"/>
            </a:xfrm>
            <a:prstGeom prst="rect">
              <a:avLst/>
            </a:prstGeom>
            <a:noFill/>
            <a:ln w="9525">
              <a:solidFill>
                <a:srgbClr val="F8270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68" name="Text Box 8">
              <a:extLst>
                <a:ext uri="{FF2B5EF4-FFF2-40B4-BE49-F238E27FC236}">
                  <a16:creationId xmlns:a16="http://schemas.microsoft.com/office/drawing/2014/main" id="{A30E01FA-CE85-4FC7-B095-F30B6340A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3" y="3696"/>
              <a:ext cx="1484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en-US" sz="2000" i="1" dirty="0">
                  <a:solidFill>
                    <a:schemeClr val="accent4"/>
                  </a:solidFill>
                  <a:latin typeface="Arial" panose="020B0604020202020204" pitchFamily="34" charset="0"/>
                </a:rPr>
                <a:t>Program ends here</a:t>
              </a:r>
            </a:p>
          </p:txBody>
        </p:sp>
        <p:sp>
          <p:nvSpPr>
            <p:cNvPr id="20492" name="Line 9">
              <a:extLst>
                <a:ext uri="{FF2B5EF4-FFF2-40B4-BE49-F238E27FC236}">
                  <a16:creationId xmlns:a16="http://schemas.microsoft.com/office/drawing/2014/main" id="{357AF7DC-95C2-4F9C-B880-29070F304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3840"/>
              <a:ext cx="192" cy="0"/>
            </a:xfrm>
            <a:prstGeom prst="line">
              <a:avLst/>
            </a:prstGeom>
            <a:noFill/>
            <a:ln w="9525">
              <a:solidFill>
                <a:srgbClr val="F82704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70" name="Group 10">
            <a:extLst>
              <a:ext uri="{FF2B5EF4-FFF2-40B4-BE49-F238E27FC236}">
                <a16:creationId xmlns:a16="http://schemas.microsoft.com/office/drawing/2014/main" id="{248BDACB-D20B-47D8-AC72-8314B37A0DD6}"/>
              </a:ext>
            </a:extLst>
          </p:cNvPr>
          <p:cNvGrpSpPr>
            <a:grpSpLocks/>
          </p:cNvGrpSpPr>
          <p:nvPr/>
        </p:nvGrpSpPr>
        <p:grpSpPr bwMode="auto">
          <a:xfrm>
            <a:off x="3173414" y="2452688"/>
            <a:ext cx="7413625" cy="1357312"/>
            <a:chOff x="1104" y="923"/>
            <a:chExt cx="4670" cy="1152"/>
          </a:xfrm>
        </p:grpSpPr>
        <p:sp>
          <p:nvSpPr>
            <p:cNvPr id="20487" name="Rectangle 11">
              <a:extLst>
                <a:ext uri="{FF2B5EF4-FFF2-40B4-BE49-F238E27FC236}">
                  <a16:creationId xmlns:a16="http://schemas.microsoft.com/office/drawing/2014/main" id="{95F30C38-27DA-4CA3-B50F-2E3E0EE13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923"/>
              <a:ext cx="3072" cy="1152"/>
            </a:xfrm>
            <a:prstGeom prst="rect">
              <a:avLst/>
            </a:prstGeom>
            <a:noFill/>
            <a:ln w="9525">
              <a:solidFill>
                <a:srgbClr val="F8270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72" name="Text Box 12">
              <a:extLst>
                <a:ext uri="{FF2B5EF4-FFF2-40B4-BE49-F238E27FC236}">
                  <a16:creationId xmlns:a16="http://schemas.microsoft.com/office/drawing/2014/main" id="{DA1C273E-9291-4C74-BE17-D2AD344C0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3" y="1343"/>
              <a:ext cx="1541" cy="34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en-US" sz="2000" i="1" dirty="0">
                  <a:solidFill>
                    <a:schemeClr val="accent4"/>
                  </a:solidFill>
                  <a:latin typeface="Arial" panose="020B0604020202020204" pitchFamily="34" charset="0"/>
                </a:rPr>
                <a:t>Program starts here</a:t>
              </a:r>
            </a:p>
          </p:txBody>
        </p:sp>
        <p:sp>
          <p:nvSpPr>
            <p:cNvPr id="20489" name="Line 13">
              <a:extLst>
                <a:ext uri="{FF2B5EF4-FFF2-40B4-BE49-F238E27FC236}">
                  <a16:creationId xmlns:a16="http://schemas.microsoft.com/office/drawing/2014/main" id="{8BF59A90-1CFB-4902-9F86-FB28BD9ED4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0" y="1488"/>
              <a:ext cx="192" cy="0"/>
            </a:xfrm>
            <a:prstGeom prst="line">
              <a:avLst/>
            </a:prstGeom>
            <a:noFill/>
            <a:ln w="9525">
              <a:solidFill>
                <a:srgbClr val="F82704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2">
            <a:extLst>
              <a:ext uri="{FF2B5EF4-FFF2-40B4-BE49-F238E27FC236}">
                <a16:creationId xmlns:a16="http://schemas.microsoft.com/office/drawing/2014/main" id="{8F12F4A9-B1C9-4FDA-B2A8-B0AC198AA1A8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Layout of a C++ Program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4">
            <a:extLst>
              <a:ext uri="{FF2B5EF4-FFF2-40B4-BE49-F238E27FC236}">
                <a16:creationId xmlns:a16="http://schemas.microsoft.com/office/drawing/2014/main" id="{B8D94881-D8A4-40BF-BA16-E376586BA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1460500"/>
            <a:ext cx="4191000" cy="4154984"/>
          </a:xfrm>
          <a:prstGeom prst="rect">
            <a:avLst/>
          </a:prstGeom>
          <a:solidFill>
            <a:srgbClr val="FFFFFF"/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rbel" panose="020B0503020204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#include &lt;iostream&gt;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using namespace std;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int main()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{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Variable_Declarations</a:t>
            </a:r>
          </a:p>
          <a:p>
            <a:pPr eaLnBrk="1" hangingPunct="1"/>
            <a:endParaRPr lang="en-US" altLang="en-US" i="1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Statement_1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Statement_2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  …</a:t>
            </a:r>
          </a:p>
          <a:p>
            <a:pPr eaLnBrk="1" hangingPunct="1"/>
            <a:r>
              <a:rPr lang="en-US" altLang="en-US" i="1">
                <a:latin typeface="Arial" panose="020B0604020202020204" pitchFamily="34" charset="0"/>
              </a:rPr>
              <a:t>	Statement_Last</a:t>
            </a:r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	return 0;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}</a:t>
            </a:r>
          </a:p>
          <a:p>
            <a:pPr eaLnBrk="1" hangingPunct="1"/>
            <a:endParaRPr lang="en-US" altLang="en-US" sz="1200">
              <a:latin typeface="Arial" panose="020B0604020202020204" pitchFamily="34" charset="0"/>
            </a:endParaRPr>
          </a:p>
        </p:txBody>
      </p:sp>
      <p:grpSp>
        <p:nvGrpSpPr>
          <p:cNvPr id="41989" name="Group 5">
            <a:extLst>
              <a:ext uri="{FF2B5EF4-FFF2-40B4-BE49-F238E27FC236}">
                <a16:creationId xmlns:a16="http://schemas.microsoft.com/office/drawing/2014/main" id="{963E0AE9-3947-4AB1-B575-DE8DC7ED973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419226"/>
            <a:ext cx="3987800" cy="396875"/>
            <a:chOff x="2736" y="894"/>
            <a:chExt cx="2512" cy="250"/>
          </a:xfrm>
        </p:grpSpPr>
        <p:sp>
          <p:nvSpPr>
            <p:cNvPr id="21522" name="Line 6">
              <a:extLst>
                <a:ext uri="{FF2B5EF4-FFF2-40B4-BE49-F238E27FC236}">
                  <a16:creationId xmlns:a16="http://schemas.microsoft.com/office/drawing/2014/main" id="{5FC21E8D-BF22-45AB-8AE4-845FBBBFE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00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Text Box 7">
              <a:extLst>
                <a:ext uri="{FF2B5EF4-FFF2-40B4-BE49-F238E27FC236}">
                  <a16:creationId xmlns:a16="http://schemas.microsoft.com/office/drawing/2014/main" id="{D0FA120A-8144-4AC4-8424-3CD287930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894"/>
              <a:ext cx="1264" cy="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en-US" sz="2000" i="1">
                  <a:solidFill>
                    <a:srgbClr val="0033CC"/>
                  </a:solidFill>
                  <a:latin typeface="Arial" panose="020B0604020202020204" pitchFamily="34" charset="0"/>
                </a:rPr>
                <a:t>include directive</a:t>
              </a:r>
            </a:p>
          </p:txBody>
        </p:sp>
      </p:grpSp>
      <p:grpSp>
        <p:nvGrpSpPr>
          <p:cNvPr id="41992" name="Group 8">
            <a:extLst>
              <a:ext uri="{FF2B5EF4-FFF2-40B4-BE49-F238E27FC236}">
                <a16:creationId xmlns:a16="http://schemas.microsoft.com/office/drawing/2014/main" id="{74A9DC8A-F5F3-45F2-8E54-01D2E215798E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1828801"/>
            <a:ext cx="4459288" cy="396875"/>
            <a:chOff x="2784" y="1152"/>
            <a:chExt cx="2809" cy="250"/>
          </a:xfrm>
        </p:grpSpPr>
        <p:sp>
          <p:nvSpPr>
            <p:cNvPr id="21520" name="Line 9">
              <a:extLst>
                <a:ext uri="{FF2B5EF4-FFF2-40B4-BE49-F238E27FC236}">
                  <a16:creationId xmlns:a16="http://schemas.microsoft.com/office/drawing/2014/main" id="{23D5A427-39EC-4071-A2F0-86C3E02C0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296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Text Box 10">
              <a:extLst>
                <a:ext uri="{FF2B5EF4-FFF2-40B4-BE49-F238E27FC236}">
                  <a16:creationId xmlns:a16="http://schemas.microsoft.com/office/drawing/2014/main" id="{DF489302-E4B5-4299-A545-58286983D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152"/>
              <a:ext cx="1609" cy="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en-US" sz="2000" i="1">
                  <a:solidFill>
                    <a:srgbClr val="0033CC"/>
                  </a:solidFill>
                  <a:latin typeface="Arial" panose="020B0604020202020204" pitchFamily="34" charset="0"/>
                </a:rPr>
                <a:t>standard namespace</a:t>
              </a:r>
            </a:p>
          </p:txBody>
        </p:sp>
      </p:grpSp>
      <p:grpSp>
        <p:nvGrpSpPr>
          <p:cNvPr id="41995" name="Group 11">
            <a:extLst>
              <a:ext uri="{FF2B5EF4-FFF2-40B4-BE49-F238E27FC236}">
                <a16:creationId xmlns:a16="http://schemas.microsoft.com/office/drawing/2014/main" id="{1CE9EC9D-A9FB-4BDA-A881-B0EDF2B66AB0}"/>
              </a:ext>
            </a:extLst>
          </p:cNvPr>
          <p:cNvGrpSpPr>
            <a:grpSpLocks/>
          </p:cNvGrpSpPr>
          <p:nvPr/>
        </p:nvGrpSpPr>
        <p:grpSpPr bwMode="auto">
          <a:xfrm>
            <a:off x="4572001" y="2514601"/>
            <a:ext cx="5046663" cy="396875"/>
            <a:chOff x="1920" y="1584"/>
            <a:chExt cx="3179" cy="250"/>
          </a:xfrm>
        </p:grpSpPr>
        <p:sp>
          <p:nvSpPr>
            <p:cNvPr id="21518" name="Line 12">
              <a:extLst>
                <a:ext uri="{FF2B5EF4-FFF2-40B4-BE49-F238E27FC236}">
                  <a16:creationId xmlns:a16="http://schemas.microsoft.com/office/drawing/2014/main" id="{7B4684D1-9615-4645-ADA3-1311748A9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728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Text Box 13">
              <a:extLst>
                <a:ext uri="{FF2B5EF4-FFF2-40B4-BE49-F238E27FC236}">
                  <a16:creationId xmlns:a16="http://schemas.microsoft.com/office/drawing/2014/main" id="{D17A3821-AE78-4B37-99F4-8DA5E121E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584"/>
              <a:ext cx="1067" cy="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en-US" sz="2000" i="1">
                  <a:solidFill>
                    <a:srgbClr val="0033CC"/>
                  </a:solidFill>
                  <a:latin typeface="Arial" panose="020B0604020202020204" pitchFamily="34" charset="0"/>
                </a:rPr>
                <a:t>main function</a:t>
              </a:r>
            </a:p>
          </p:txBody>
        </p:sp>
      </p:grpSp>
      <p:grpSp>
        <p:nvGrpSpPr>
          <p:cNvPr id="41998" name="Group 14">
            <a:extLst>
              <a:ext uri="{FF2B5EF4-FFF2-40B4-BE49-F238E27FC236}">
                <a16:creationId xmlns:a16="http://schemas.microsoft.com/office/drawing/2014/main" id="{E3EC169F-B030-497B-B8FC-5DAAD8F1F5FD}"/>
              </a:ext>
            </a:extLst>
          </p:cNvPr>
          <p:cNvGrpSpPr>
            <a:grpSpLocks/>
          </p:cNvGrpSpPr>
          <p:nvPr/>
        </p:nvGrpSpPr>
        <p:grpSpPr bwMode="auto">
          <a:xfrm>
            <a:off x="5006976" y="4746626"/>
            <a:ext cx="4848225" cy="396875"/>
            <a:chOff x="2304" y="3630"/>
            <a:chExt cx="3054" cy="250"/>
          </a:xfrm>
        </p:grpSpPr>
        <p:sp>
          <p:nvSpPr>
            <p:cNvPr id="21516" name="Line 15">
              <a:extLst>
                <a:ext uri="{FF2B5EF4-FFF2-40B4-BE49-F238E27FC236}">
                  <a16:creationId xmlns:a16="http://schemas.microsoft.com/office/drawing/2014/main" id="{5692C8FD-950C-4C52-B305-D4C113DA4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3792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Text Box 16">
              <a:extLst>
                <a:ext uri="{FF2B5EF4-FFF2-40B4-BE49-F238E27FC236}">
                  <a16:creationId xmlns:a16="http://schemas.microsoft.com/office/drawing/2014/main" id="{D9FE99DC-7ABB-4232-A48B-F6A4E230E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630"/>
              <a:ext cx="1278" cy="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en-US" sz="2000" i="1">
                  <a:solidFill>
                    <a:srgbClr val="0033CC"/>
                  </a:solidFill>
                  <a:latin typeface="Arial" panose="020B0604020202020204" pitchFamily="34" charset="0"/>
                </a:rPr>
                <a:t>return statement</a:t>
              </a:r>
            </a:p>
          </p:txBody>
        </p:sp>
      </p:grpSp>
      <p:grpSp>
        <p:nvGrpSpPr>
          <p:cNvPr id="42001" name="Group 17">
            <a:extLst>
              <a:ext uri="{FF2B5EF4-FFF2-40B4-BE49-F238E27FC236}">
                <a16:creationId xmlns:a16="http://schemas.microsoft.com/office/drawing/2014/main" id="{26DDC7C7-F6C5-4443-AA83-B3D6E95958A1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889250"/>
            <a:ext cx="3835400" cy="1682750"/>
            <a:chOff x="3360" y="2112"/>
            <a:chExt cx="2416" cy="1344"/>
          </a:xfrm>
        </p:grpSpPr>
        <p:sp>
          <p:nvSpPr>
            <p:cNvPr id="21513" name="AutoShape 18">
              <a:extLst>
                <a:ext uri="{FF2B5EF4-FFF2-40B4-BE49-F238E27FC236}">
                  <a16:creationId xmlns:a16="http://schemas.microsoft.com/office/drawing/2014/main" id="{82657054-3837-4C67-9462-A52B8B05E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112"/>
              <a:ext cx="48" cy="1344"/>
            </a:xfrm>
            <a:prstGeom prst="rightBrace">
              <a:avLst>
                <a:gd name="adj1" fmla="val 233333"/>
                <a:gd name="adj2" fmla="val 5000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514" name="Line 19">
              <a:extLst>
                <a:ext uri="{FF2B5EF4-FFF2-40B4-BE49-F238E27FC236}">
                  <a16:creationId xmlns:a16="http://schemas.microsoft.com/office/drawing/2014/main" id="{6EF01088-B340-43E9-A55E-725A9795C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7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Text Box 20">
              <a:extLst>
                <a:ext uri="{FF2B5EF4-FFF2-40B4-BE49-F238E27FC236}">
                  <a16:creationId xmlns:a16="http://schemas.microsoft.com/office/drawing/2014/main" id="{AC6B1459-FE32-4B95-8AFF-DB1672FC3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5" y="2640"/>
              <a:ext cx="1731" cy="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/>
              <a:r>
                <a:rPr lang="en-US" altLang="en-US" sz="2000" i="1">
                  <a:solidFill>
                    <a:srgbClr val="0033CC"/>
                  </a:solidFill>
                  <a:latin typeface="Arial" panose="020B0604020202020204" pitchFamily="34" charset="0"/>
                </a:rPr>
                <a:t>executable statements</a:t>
              </a:r>
            </a:p>
          </p:txBody>
        </p:sp>
      </p:grpSp>
      <p:sp>
        <p:nvSpPr>
          <p:cNvPr id="22" name="Rectangle 2">
            <a:extLst>
              <a:ext uri="{FF2B5EF4-FFF2-40B4-BE49-F238E27FC236}">
                <a16:creationId xmlns:a16="http://schemas.microsoft.com/office/drawing/2014/main" id="{5C0AD5ED-6803-45EC-99EF-4B8078D8E824}"/>
              </a:ext>
            </a:extLst>
          </p:cNvPr>
          <p:cNvSpPr txBox="1">
            <a:spLocks noChangeArrowheads="1"/>
          </p:cNvSpPr>
          <p:nvPr/>
        </p:nvSpPr>
        <p:spPr>
          <a:xfrm>
            <a:off x="2713038" y="231775"/>
            <a:ext cx="7319962" cy="10033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Layout of a C++ Program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8125AADD-B999-4679-A61C-F0D64BCC65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8363" y="2209800"/>
            <a:ext cx="8305800" cy="4495800"/>
          </a:xfrm>
          <a:solidFill>
            <a:srgbClr val="FFFFFF"/>
          </a:solidFill>
          <a:ln w="12700">
            <a:solidFill>
              <a:schemeClr val="accent4">
                <a:lumMod val="75000"/>
              </a:schemeClr>
            </a:solidFill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#include &lt;iostream&gt;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using namespace std;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int main()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{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int number1, number2, sum;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</a:t>
            </a:r>
            <a:r>
              <a:rPr lang="en-US" altLang="en-US" sz="1500" dirty="0" err="1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cout</a:t>
            </a:r>
            <a:r>
              <a:rPr lang="en-US" altLang="en-US" sz="1500" dirty="0">
                <a:latin typeface="Arial" panose="020B0604020202020204" pitchFamily="34" charset="0"/>
              </a:rPr>
              <a:t> &lt;&lt; "Enter first number: ";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</a:t>
            </a:r>
            <a:r>
              <a:rPr lang="en-US" altLang="en-US" sz="1500" dirty="0" err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cin</a:t>
            </a:r>
            <a:r>
              <a:rPr lang="en-US" altLang="en-US" sz="1500" dirty="0">
                <a:latin typeface="Arial" panose="020B0604020202020204" pitchFamily="34" charset="0"/>
              </a:rPr>
              <a:t>  &gt;&gt; number1;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</a:t>
            </a:r>
            <a:r>
              <a:rPr lang="en-US" altLang="en-US" sz="1500" dirty="0" err="1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cout</a:t>
            </a:r>
            <a:r>
              <a:rPr lang="en-US" altLang="en-US" sz="1500" dirty="0">
                <a:latin typeface="Arial" panose="020B0604020202020204" pitchFamily="34" charset="0"/>
              </a:rPr>
              <a:t> &lt;&lt; "Enter second number: ";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</a:t>
            </a:r>
            <a:r>
              <a:rPr lang="en-US" altLang="en-US" sz="1500" dirty="0" err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cin</a:t>
            </a:r>
            <a:r>
              <a:rPr lang="en-US" altLang="en-US" sz="1500" dirty="0">
                <a:latin typeface="Arial" panose="020B0604020202020204" pitchFamily="34" charset="0"/>
              </a:rPr>
              <a:t>  &gt;&gt; number2;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sum = number1 + number2;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</a:t>
            </a:r>
            <a:r>
              <a:rPr lang="en-US" altLang="en-US" sz="1500" dirty="0" err="1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cout</a:t>
            </a:r>
            <a:r>
              <a:rPr lang="en-US" altLang="en-US" sz="1500" dirty="0">
                <a:latin typeface="Arial" panose="020B0604020202020204" pitchFamily="34" charset="0"/>
              </a:rPr>
              <a:t>  &lt;&lt; "Sum = " &lt;&lt; sum &lt;&lt; </a:t>
            </a:r>
            <a:r>
              <a:rPr lang="en-US" altLang="en-US" sz="1500" dirty="0">
                <a:solidFill>
                  <a:schemeClr val="tx2"/>
                </a:solidFill>
                <a:latin typeface="Arial" panose="020B0604020202020204" pitchFamily="34" charset="0"/>
              </a:rPr>
              <a:t>“\n”</a:t>
            </a:r>
            <a:r>
              <a:rPr lang="en-US" altLang="en-US" sz="1500" dirty="0">
                <a:latin typeface="Arial" panose="020B0604020202020204" pitchFamily="34" charset="0"/>
              </a:rPr>
              <a:t>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500" dirty="0">
              <a:latin typeface="Arial" panose="020B0604020202020204" pitchFamily="34" charset="0"/>
            </a:endParaRP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	return 0;</a:t>
            </a:r>
          </a:p>
          <a:p>
            <a:pPr eaLnBrk="1" fontAlgn="auto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dirty="0">
                <a:latin typeface="Arial" panose="020B0604020202020204" pitchFamily="34" charset="0"/>
              </a:rPr>
              <a:t>}</a:t>
            </a:r>
          </a:p>
          <a:p>
            <a:pPr eaLnBrk="1" fontAlgn="auto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Symbol" panose="05050102010706020507" pitchFamily="18" charset="2"/>
              <a:buNone/>
              <a:defRPr/>
            </a:pPr>
            <a:endParaRPr lang="en-US" altLang="en-US" dirty="0"/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FE97BB5A-4360-462E-81D9-E3059FB99A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1" y="2438401"/>
          <a:ext cx="3419475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itmap Image" r:id="rId3" imgW="3333333" imgH="1324160" progId="Paint.Picture">
                  <p:embed/>
                </p:oleObj>
              </mc:Choice>
              <mc:Fallback>
                <p:oleObj name="Bitmap Image" r:id="rId3" imgW="3333333" imgH="1324160" progId="Paint.Picture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FE97BB5A-4360-462E-81D9-E3059FB99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2438401"/>
                        <a:ext cx="3419475" cy="15097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2551C718-5579-4515-99A0-1DB47F4D5D4F}"/>
              </a:ext>
            </a:extLst>
          </p:cNvPr>
          <p:cNvSpPr txBox="1">
            <a:spLocks noChangeArrowheads="1"/>
          </p:cNvSpPr>
          <p:nvPr/>
        </p:nvSpPr>
        <p:spPr>
          <a:xfrm>
            <a:off x="2743201" y="5334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Sample C++ Program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1" name="Text Box 7">
            <a:extLst>
              <a:ext uri="{FF2B5EF4-FFF2-40B4-BE49-F238E27FC236}">
                <a16:creationId xmlns:a16="http://schemas.microsoft.com/office/drawing/2014/main" id="{986D5E80-84C1-4D77-ACE3-E037CD10C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1682750"/>
            <a:ext cx="2301875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 u="sng" dirty="0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Try this:</a:t>
            </a:r>
          </a:p>
          <a:p>
            <a:pPr>
              <a:defRPr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Write a program that displays the product of two integers</a:t>
            </a:r>
          </a:p>
        </p:txBody>
      </p:sp>
      <p:sp>
        <p:nvSpPr>
          <p:cNvPr id="47112" name="Text Box 8">
            <a:extLst>
              <a:ext uri="{FF2B5EF4-FFF2-40B4-BE49-F238E27FC236}">
                <a16:creationId xmlns:a16="http://schemas.microsoft.com/office/drawing/2014/main" id="{50906FDA-9536-4A29-8D42-BA273A776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9813" y="1676401"/>
            <a:ext cx="5365750" cy="47482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#include &lt;iostream&gt;</a:t>
            </a: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using namespace std;</a:t>
            </a:r>
          </a:p>
          <a:p>
            <a:pPr>
              <a:defRPr/>
            </a:pPr>
            <a:endParaRPr lang="en-US" altLang="en-US" sz="9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int main()</a:t>
            </a:r>
          </a:p>
          <a:p>
            <a:pPr>
              <a:defRPr/>
            </a:pPr>
            <a:r>
              <a:rPr lang="en-US" altLang="en-US" sz="1400" dirty="0">
                <a:latin typeface="Arial" panose="020B0604020202020204" pitchFamily="34" charset="0"/>
              </a:rPr>
              <a:t>{</a:t>
            </a: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int number1, number2, product;</a:t>
            </a:r>
          </a:p>
          <a:p>
            <a:pPr>
              <a:defRPr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cout</a:t>
            </a:r>
            <a:r>
              <a:rPr lang="en-US" altLang="en-US" dirty="0">
                <a:latin typeface="Arial" panose="020B0604020202020204" pitchFamily="34" charset="0"/>
              </a:rPr>
              <a:t> &lt;&lt; "Enter first number: ";</a:t>
            </a: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cin</a:t>
            </a:r>
            <a:r>
              <a:rPr lang="en-US" altLang="en-US" dirty="0">
                <a:latin typeface="Arial" panose="020B0604020202020204" pitchFamily="34" charset="0"/>
              </a:rPr>
              <a:t>  &gt;&gt; number1;</a:t>
            </a:r>
          </a:p>
          <a:p>
            <a:pPr>
              <a:defRPr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cout</a:t>
            </a:r>
            <a:r>
              <a:rPr lang="en-US" altLang="en-US" dirty="0">
                <a:latin typeface="Arial" panose="020B0604020202020204" pitchFamily="34" charset="0"/>
              </a:rPr>
              <a:t> &lt;&lt; "Enter second number: ";</a:t>
            </a: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cin</a:t>
            </a:r>
            <a:r>
              <a:rPr lang="en-US" altLang="en-US" dirty="0">
                <a:latin typeface="Arial" panose="020B0604020202020204" pitchFamily="34" charset="0"/>
              </a:rPr>
              <a:t>  &gt;&gt; number2;</a:t>
            </a:r>
          </a:p>
          <a:p>
            <a:pPr>
              <a:defRPr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product =…………………..?</a:t>
            </a:r>
          </a:p>
          <a:p>
            <a:pPr>
              <a:defRPr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</a:t>
            </a:r>
            <a:r>
              <a:rPr lang="en-US" altLang="en-US" dirty="0" err="1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cout</a:t>
            </a:r>
            <a:r>
              <a:rPr lang="en-US" altLang="en-US" dirty="0">
                <a:latin typeface="Arial" panose="020B0604020202020204" pitchFamily="34" charset="0"/>
              </a:rPr>
              <a:t>  &lt;&lt; “Product = " &lt;&lt; product &lt;&lt; </a:t>
            </a:r>
            <a:r>
              <a:rPr lang="en-US" altLang="en-US" dirty="0">
                <a:solidFill>
                  <a:schemeClr val="tx2"/>
                </a:solidFill>
                <a:latin typeface="Arial" panose="020B0604020202020204" pitchFamily="34" charset="0"/>
              </a:rPr>
              <a:t>“\n”</a:t>
            </a:r>
            <a:r>
              <a:rPr lang="en-US" altLang="en-US" dirty="0">
                <a:latin typeface="Arial" panose="020B0604020202020204" pitchFamily="34" charset="0"/>
              </a:rPr>
              <a:t>;</a:t>
            </a:r>
          </a:p>
          <a:p>
            <a:pPr>
              <a:defRPr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en-US" dirty="0">
                <a:latin typeface="Arial" panose="020B0604020202020204" pitchFamily="34" charset="0"/>
              </a:rPr>
              <a:t>	return 0;</a:t>
            </a:r>
          </a:p>
          <a:p>
            <a:pPr>
              <a:defRPr/>
            </a:pPr>
            <a:r>
              <a:rPr lang="en-US" altLang="en-US" sz="14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D2308C3-2D95-415C-9CAD-163BA2E9F84D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3048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Sample C++ Program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>
            <a:extLst>
              <a:ext uri="{FF2B5EF4-FFF2-40B4-BE49-F238E27FC236}">
                <a16:creationId xmlns:a16="http://schemas.microsoft.com/office/drawing/2014/main" id="{4A43BF4C-DD74-4AE0-BA69-06C1F0C9CA0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02126" y="1582738"/>
            <a:ext cx="4505325" cy="5275262"/>
          </a:xfrm>
          <a:noFill/>
          <a:ln w="38100" cap="flat" cmpd="dbl">
            <a:solidFill>
              <a:schemeClr val="hlink"/>
            </a:solidFill>
            <a:miter lim="800000"/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3EA9092-FC59-4E6A-BA82-C553359FA8A6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en-US" sz="3600" dirty="0"/>
              <a:t>Compiling and Running a C++ Program</a:t>
            </a:r>
          </a:p>
          <a:p>
            <a:pPr>
              <a:defRPr/>
            </a:pPr>
            <a:endParaRPr lang="en-US" alt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766510CC-B5E3-42F2-AEC6-240D229D2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2286001"/>
            <a:ext cx="7704138" cy="33321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4"/>
                </a:solidFill>
              </a:rPr>
              <a:t>Bug</a:t>
            </a:r>
          </a:p>
          <a:p>
            <a:pPr marL="457200" lvl="1" indent="0">
              <a:buNone/>
            </a:pPr>
            <a:r>
              <a:rPr lang="en-US" altLang="en-US" dirty="0"/>
              <a:t>A mistake/error in the program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accent4"/>
                </a:solidFill>
              </a:rPr>
              <a:t>Debugging</a:t>
            </a:r>
          </a:p>
          <a:p>
            <a:pPr marL="457200" lvl="1" indent="0">
              <a:buNone/>
            </a:pPr>
            <a:r>
              <a:rPr lang="en-US" altLang="en-US" dirty="0"/>
              <a:t>The process of eliminating bugs in a program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4EFB75-FBB7-4D6A-9443-F08671F1FF3A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Testing and Debugging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AAA88938-BEC1-4169-A1C4-16CD184BD6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98726" y="2362201"/>
            <a:ext cx="7705725" cy="3332163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/>
              <a:t>Types of program errors: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Syntax</a:t>
            </a:r>
            <a:r>
              <a:rPr lang="en-US" altLang="en-US" dirty="0"/>
              <a:t> errors</a:t>
            </a:r>
          </a:p>
          <a:p>
            <a:pPr lvl="2"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/>
              <a:t>Violations of the rules of the programming language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Run-time</a:t>
            </a:r>
            <a:r>
              <a:rPr lang="en-US" altLang="en-US" dirty="0"/>
              <a:t> errors</a:t>
            </a:r>
          </a:p>
          <a:p>
            <a:pPr lvl="2"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/>
              <a:t>Detected by computers when the program is run (numeric </a:t>
            </a:r>
            <a:r>
              <a:rPr lang="en-US" altLang="en-US" dirty="0" err="1"/>
              <a:t>calcualtions</a:t>
            </a:r>
            <a:r>
              <a:rPr lang="en-US" altLang="en-US" dirty="0"/>
              <a:t>)</a:t>
            </a:r>
          </a:p>
          <a:p>
            <a:pPr lvl="1"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>
                <a:solidFill>
                  <a:srgbClr val="F82704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Logic</a:t>
            </a:r>
            <a:r>
              <a:rPr lang="en-US" altLang="en-US" dirty="0"/>
              <a:t> errors</a:t>
            </a:r>
          </a:p>
          <a:p>
            <a:pPr lvl="2" eaLnBrk="1" fontAlgn="auto" hangingPunct="1"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n-US" altLang="en-US" dirty="0"/>
              <a:t>Mistakes in the underlying algorithm or translating the algorithm into C++ language</a:t>
            </a:r>
          </a:p>
          <a:p>
            <a:pPr eaLnBrk="1" fontAlgn="auto" hangingPunct="1">
              <a:buClr>
                <a:schemeClr val="accent1">
                  <a:lumMod val="75000"/>
                </a:schemeClr>
              </a:buClr>
              <a:buFont typeface="Symbol" panose="05050102010706020507" pitchFamily="18" charset="2"/>
              <a:buNone/>
              <a:defRPr/>
            </a:pPr>
            <a:endParaRPr lang="en-US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9BFFAB9-68F3-45AE-AA21-C6EB0FD9123A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1" y="457200"/>
            <a:ext cx="7319963" cy="1092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txBody>
          <a:bodyPr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altLang="en-US" sz="3600" dirty="0"/>
          </a:p>
          <a:p>
            <a:pPr>
              <a:defRPr/>
            </a:pPr>
            <a:r>
              <a:rPr lang="en-US" altLang="en-US" sz="3600" dirty="0"/>
              <a:t>Testing and Debugging</a:t>
            </a:r>
          </a:p>
          <a:p>
            <a:pPr>
              <a:defRPr/>
            </a:pP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A70DF844-3F8F-486F-A836-97F04DB9A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38400" y="1905001"/>
            <a:ext cx="7704138" cy="333216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6000" b="1" dirty="0">
                <a:solidFill>
                  <a:srgbClr val="0070C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324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Corbel</vt:lpstr>
      <vt:lpstr>Symbol</vt:lpstr>
      <vt:lpstr>Times New Roman</vt:lpstr>
      <vt:lpstr>Wingdings</vt:lpstr>
      <vt:lpstr>Office Theme</vt:lpstr>
      <vt:lpstr>Bitmap Image</vt:lpstr>
      <vt:lpstr>Ministry of Higher Education Kabul university  faculty of  Information &amp; communication technology</vt:lpstr>
      <vt:lpstr>Overview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Ministry of Higher Education Kabul university  faculty of  Information &amp; communication technology</dc:title>
  <dc:creator>NTSPC</dc:creator>
  <cp:lastModifiedBy>Sayed Ziafat</cp:lastModifiedBy>
  <cp:revision>3</cp:revision>
  <dcterms:created xsi:type="dcterms:W3CDTF">2024-05-05T17:26:00Z</dcterms:created>
  <dcterms:modified xsi:type="dcterms:W3CDTF">2026-03-29T05:04:19Z</dcterms:modified>
</cp:coreProperties>
</file>